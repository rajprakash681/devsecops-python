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cc58b58-e78c-ec93-cc72-585347aaf38b}">
          <p14:sldIdLst>
            <p14:sldId id="256"/>
            <p14:sldId id="257"/>
          </p14:sldIdLst>
        </p14:section>
        <p14:section name="Build" id="{26c77aa3-8775-935a-66fe-ae5babf0d3c6}">
          <p14:sldIdLst>
            <p14:sldId id="258"/>
            <p14:sldId id="259"/>
            <p14:sldId id="260"/>
          </p14:sldIdLst>
        </p14:section>
        <p14:section name="Ship" id="{1b68c0eb-fd78-16a4-51bb-fbc641b51438}">
          <p14:sldIdLst>
            <p14:sldId id="261"/>
            <p14:sldId id="262"/>
          </p14:sldIdLst>
        </p14:section>
        <p14:section name="Run" id="{36725301-04ce-cbe2-e8f4-7fa47958d9fa}">
          <p14:sldIdLst>
            <p14:sldId id="263"/>
            <p14:sldId id="264"/>
            <p14:sldId id="265"/>
            <p14:sldId id="266"/>
          </p14:sldIdLst>
        </p14:section>
        <p14:section name="Reflect" id="{de91b116-aabb-21a9-bdc3-b3bae97f256a}">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155"/>
                </a:solidFill>
                <a:latin typeface="+mn-lt"/>
              </a:defRPr>
            </a:pPr>
            <a:r>
              <a:rPr sz="1300" b="0" i="0" u="none" strike="noStrike">
                <a:solidFill>
                  <a:srgbClr val="334155"/>
                </a:solidFill>
                <a:latin typeface="+mn-lt"/>
              </a:rPr>
              <a:t>Backend replicas, sampled every 15 s (load from 19:45:45 to 19:49:45)</a:t>
            </a:r>
          </a:p>
        </c:rich>
      </c:tx>
      <c:layout/>
      <c:overlay val="0"/>
    </c:title>
    <c:autoTitleDeleted val="0"/>
    <c:plotArea>
      <c:layout/>
      <c:lineChart>
        <c:varyColors val="0"/>
        <c:ser>
          <c:idx val="0"/>
          <c:order val="0"/>
          <c:tx>
            <c:strRef>
              <c:f>Sheet1!$B$1</c:f>
              <c:strCache>
                <c:ptCount val="1"/>
                <c:pt idx="0">
                  <c:v>Ready backend pods</c:v>
                </c:pt>
              </c:strCache>
            </c:strRef>
          </c:tx>
          <c:spPr>
            <a:solidFill>
              <a:srgbClr val="0F766E"/>
            </a:solidFill>
            <a:ln w="3175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66E"/>
              </a:solidFill>
              <a:ln w="9525" cap="flat">
                <a:solidFill>
                  <a:srgbClr val="0F766E"/>
                </a:solidFill>
                <a:prstDash val="solid"/>
                <a:round/>
              </a:ln>
              <a:effectLst/>
            </c:spPr>
          </c:marker>
          <c:cat>
            <c:multiLvlStrRef>
              <c:f>Sheet1!$A$2:$A$31</c:f>
              <c:multiLvlStrCache>
                <c:ptCount val="30"/>
                <c:lvl>
                  <c:pt idx="0">
                    <c:v>19:45</c:v>
                  </c:pt>
                  <c:pt idx="1">
                    <c:v/>
                  </c:pt>
                  <c:pt idx="2">
                    <c:v/>
                  </c:pt>
                  <c:pt idx="3">
                    <c:v/>
                  </c:pt>
                  <c:pt idx="4">
                    <c:v>19:46</c:v>
                  </c:pt>
                  <c:pt idx="5">
                    <c:v/>
                  </c:pt>
                  <c:pt idx="6">
                    <c:v/>
                  </c:pt>
                  <c:pt idx="7">
                    <c:v/>
                  </c:pt>
                  <c:pt idx="8">
                    <c:v>19:47</c:v>
                  </c:pt>
                  <c:pt idx="9">
                    <c:v/>
                  </c:pt>
                  <c:pt idx="10">
                    <c:v/>
                  </c:pt>
                  <c:pt idx="11">
                    <c:v/>
                  </c:pt>
                  <c:pt idx="12">
                    <c:v>19:48</c:v>
                  </c:pt>
                  <c:pt idx="13">
                    <c:v/>
                  </c:pt>
                  <c:pt idx="14">
                    <c:v/>
                  </c:pt>
                  <c:pt idx="15">
                    <c:v/>
                  </c:pt>
                  <c:pt idx="16">
                    <c:v>19:49</c:v>
                  </c:pt>
                  <c:pt idx="17">
                    <c:v/>
                  </c:pt>
                  <c:pt idx="18">
                    <c:v/>
                  </c:pt>
                  <c:pt idx="19">
                    <c:v/>
                  </c:pt>
                  <c:pt idx="20">
                    <c:v>19:50</c:v>
                  </c:pt>
                  <c:pt idx="21">
                    <c:v/>
                  </c:pt>
                  <c:pt idx="22">
                    <c:v/>
                  </c:pt>
                  <c:pt idx="23">
                    <c:v/>
                  </c:pt>
                  <c:pt idx="24">
                    <c:v>19:51</c:v>
                  </c:pt>
                  <c:pt idx="25">
                    <c:v/>
                  </c:pt>
                  <c:pt idx="26">
                    <c:v/>
                  </c:pt>
                  <c:pt idx="27">
                    <c:v/>
                  </c:pt>
                  <c:pt idx="28">
                    <c:v>19:52</c:v>
                  </c:pt>
                  <c:pt idx="29">
                    <c:v/>
                  </c:pt>
                </c:lvl>
              </c:multiLvlStrCache>
            </c:multiLvlStrRef>
          </c:cat>
          <c:val>
            <c:numRef>
              <c:f>Sheet1!$B$2:$B$31</c:f>
              <c:numCache>
                <c:formatCode>General</c:formatCode>
                <c:ptCount val="30"/>
                <c:pt idx="0">
                  <c:v>4</c:v>
                </c:pt>
                <c:pt idx="1">
                  <c:v>4</c:v>
                </c:pt>
                <c:pt idx="2">
                  <c:v>4</c:v>
                </c:pt>
                <c:pt idx="3">
                  <c:v>6</c:v>
                </c:pt>
                <c:pt idx="4">
                  <c:v>6</c:v>
                </c:pt>
                <c:pt idx="5">
                  <c:v>6</c:v>
                </c:pt>
                <c:pt idx="6">
                  <c:v>6</c:v>
                </c:pt>
                <c:pt idx="7">
                  <c:v>6</c:v>
                </c:pt>
                <c:pt idx="8">
                  <c:v>6</c:v>
                </c:pt>
                <c:pt idx="9">
                  <c:v>6</c:v>
                </c:pt>
                <c:pt idx="10">
                  <c:v>6</c:v>
                </c:pt>
                <c:pt idx="11">
                  <c:v>6</c:v>
                </c:pt>
                <c:pt idx="12">
                  <c:v>6</c:v>
                </c:pt>
                <c:pt idx="13">
                  <c:v>6</c:v>
                </c:pt>
                <c:pt idx="14">
                  <c:v>6</c:v>
                </c:pt>
                <c:pt idx="15">
                  <c:v>6</c:v>
                </c:pt>
                <c:pt idx="16">
                  <c:v>6</c:v>
                </c:pt>
                <c:pt idx="17">
                  <c:v>6</c:v>
                </c:pt>
                <c:pt idx="18">
                  <c:v>6</c:v>
                </c:pt>
                <c:pt idx="19">
                  <c:v>6</c:v>
                </c:pt>
                <c:pt idx="20">
                  <c:v>6</c:v>
                </c:pt>
                <c:pt idx="21">
                  <c:v>6</c:v>
                </c:pt>
                <c:pt idx="22">
                  <c:v>2</c:v>
                </c:pt>
                <c:pt idx="23">
                  <c:v>2</c:v>
                </c:pt>
                <c:pt idx="24">
                  <c:v>2</c:v>
                </c:pt>
                <c:pt idx="25">
                  <c:v>2</c:v>
                </c:pt>
                <c:pt idx="26">
                  <c:v>2</c:v>
                </c:pt>
                <c:pt idx="27">
                  <c:v>2</c:v>
                </c:pt>
                <c:pt idx="28">
                  <c:v>2</c:v>
                </c:pt>
                <c:pt idx="29">
                  <c:v>2</c:v>
                </c:pt>
              </c:numCache>
            </c:numRef>
          </c:val>
          <c:smooth val="0"/>
        </c:ser>
        <c:ser>
          <c:idx val="1"/>
          <c:order val="1"/>
          <c:tx>
            <c:strRef>
              <c:f>Sheet1!$C$1</c:f>
              <c:strCache>
                <c:ptCount val="1"/>
                <c:pt idx="0">
                  <c:v>Desired replicas</c:v>
                </c:pt>
              </c:strCache>
            </c:strRef>
          </c:tx>
          <c:spPr>
            <a:solidFill>
              <a:srgbClr val="F59E0B"/>
            </a:solidFill>
            <a:ln w="3175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Sheet1!$A$2:$A$31</c:f>
              <c:multiLvlStrCache>
                <c:ptCount val="30"/>
                <c:lvl>
                  <c:pt idx="0">
                    <c:v>19:45</c:v>
                  </c:pt>
                  <c:pt idx="1">
                    <c:v/>
                  </c:pt>
                  <c:pt idx="2">
                    <c:v/>
                  </c:pt>
                  <c:pt idx="3">
                    <c:v/>
                  </c:pt>
                  <c:pt idx="4">
                    <c:v>19:46</c:v>
                  </c:pt>
                  <c:pt idx="5">
                    <c:v/>
                  </c:pt>
                  <c:pt idx="6">
                    <c:v/>
                  </c:pt>
                  <c:pt idx="7">
                    <c:v/>
                  </c:pt>
                  <c:pt idx="8">
                    <c:v>19:47</c:v>
                  </c:pt>
                  <c:pt idx="9">
                    <c:v/>
                  </c:pt>
                  <c:pt idx="10">
                    <c:v/>
                  </c:pt>
                  <c:pt idx="11">
                    <c:v/>
                  </c:pt>
                  <c:pt idx="12">
                    <c:v>19:48</c:v>
                  </c:pt>
                  <c:pt idx="13">
                    <c:v/>
                  </c:pt>
                  <c:pt idx="14">
                    <c:v/>
                  </c:pt>
                  <c:pt idx="15">
                    <c:v/>
                  </c:pt>
                  <c:pt idx="16">
                    <c:v>19:49</c:v>
                  </c:pt>
                  <c:pt idx="17">
                    <c:v/>
                  </c:pt>
                  <c:pt idx="18">
                    <c:v/>
                  </c:pt>
                  <c:pt idx="19">
                    <c:v/>
                  </c:pt>
                  <c:pt idx="20">
                    <c:v>19:50</c:v>
                  </c:pt>
                  <c:pt idx="21">
                    <c:v/>
                  </c:pt>
                  <c:pt idx="22">
                    <c:v/>
                  </c:pt>
                  <c:pt idx="23">
                    <c:v/>
                  </c:pt>
                  <c:pt idx="24">
                    <c:v>19:51</c:v>
                  </c:pt>
                  <c:pt idx="25">
                    <c:v/>
                  </c:pt>
                  <c:pt idx="26">
                    <c:v/>
                  </c:pt>
                  <c:pt idx="27">
                    <c:v/>
                  </c:pt>
                  <c:pt idx="28">
                    <c:v>19:52</c:v>
                  </c:pt>
                  <c:pt idx="29">
                    <c:v/>
                  </c:pt>
                </c:lvl>
              </c:multiLvlStrCache>
            </c:multiLvlStrRef>
          </c:cat>
          <c:val>
            <c:numRef>
              <c:f>Sheet1!$C$2:$C$31</c:f>
              <c:numCache>
                <c:formatCode>General</c:formatCode>
                <c:ptCount val="30"/>
                <c:pt idx="0">
                  <c:v>4</c:v>
                </c:pt>
                <c:pt idx="1">
                  <c:v>4</c:v>
                </c:pt>
                <c:pt idx="2">
                  <c:v>6</c:v>
                </c:pt>
                <c:pt idx="3">
                  <c:v>6</c:v>
                </c:pt>
                <c:pt idx="4">
                  <c:v>6</c:v>
                </c:pt>
                <c:pt idx="5">
                  <c:v>6</c:v>
                </c:pt>
                <c:pt idx="6">
                  <c:v>6</c:v>
                </c:pt>
                <c:pt idx="7">
                  <c:v>6</c:v>
                </c:pt>
                <c:pt idx="8">
                  <c:v>6</c:v>
                </c:pt>
                <c:pt idx="9">
                  <c:v>6</c:v>
                </c:pt>
                <c:pt idx="10">
                  <c:v>6</c:v>
                </c:pt>
                <c:pt idx="11">
                  <c:v>6</c:v>
                </c:pt>
                <c:pt idx="12">
                  <c:v>6</c:v>
                </c:pt>
                <c:pt idx="13">
                  <c:v>6</c:v>
                </c:pt>
                <c:pt idx="14">
                  <c:v>6</c:v>
                </c:pt>
                <c:pt idx="15">
                  <c:v>6</c:v>
                </c:pt>
                <c:pt idx="16">
                  <c:v>6</c:v>
                </c:pt>
                <c:pt idx="17">
                  <c:v>6</c:v>
                </c:pt>
                <c:pt idx="18">
                  <c:v>6</c:v>
                </c:pt>
                <c:pt idx="19">
                  <c:v>6</c:v>
                </c:pt>
                <c:pt idx="20">
                  <c:v>6</c:v>
                </c:pt>
                <c:pt idx="21">
                  <c:v>6</c:v>
                </c:pt>
                <c:pt idx="22">
                  <c:v>2</c:v>
                </c:pt>
                <c:pt idx="23">
                  <c:v>2</c:v>
                </c:pt>
                <c:pt idx="24">
                  <c:v>2</c:v>
                </c:pt>
                <c:pt idx="25">
                  <c:v>2</c:v>
                </c:pt>
                <c:pt idx="26">
                  <c:v>2</c:v>
                </c:pt>
                <c:pt idx="27">
                  <c:v>2</c:v>
                </c:pt>
                <c:pt idx="28">
                  <c:v>2</c:v>
                </c:pt>
                <c:pt idx="29">
                  <c:v>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mn-lt"/>
              </a:defRPr>
            </a:pPr>
            <a:endParaRPr lang="en-US"/>
          </a:p>
        </c:txPr>
        <c:crossAx val="2094734552"/>
        <c:crosses val="autoZero"/>
        <c:auto val="1"/>
        <c:lblAlgn val="ctr"/>
        <c:noMultiLvlLbl val="1"/>
        <c:tickLblSkip val="4"/>
      </c:catAx>
      <c:valAx>
        <c:axId val="2094734552"/>
        <c:scaling>
          <c:orientation val="minMax"/>
          <c:max val="7"/>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Raj Prakash, enrollment 24BCS10328. This is my Session 21 capstone, ClinicFlow. It's a front-desk application for a clinic, taken all the way from my laptop to a monitored Kubernetes cluster, with every DevOps stage from the course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ClinicFlow is for a clinic with several doctors. Reception books a patient into a doctor's free slot, and the system refuses a double booking. When the patient arrives they are checked in, and the visit ends as completed, cancelled or a no-show. Every step goes into an audit trail. The dashboard shows the waiting room, how busy each doctor is, and the no-show rate. The domain is my own; the DevOps layer follows the course's TaskBoard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React, FastAPI and PostgreSQL for the application, and pytest with thirty-two test cases. Docker images that run as non-root. GitHub Actions pushing to the GitHub Container Registry. Trivy, Gitleaks and Bandit for security. Terraform for AWS, and Kubernetes with Helm and Argo CD, monitored by Prometheus and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architecture. A push to GitHub starts the pipeline: it tests, scans, builds, pushes images tagged with the commit SHA, deploys to a throwaway cluster, and then commits that SHA back into the gitops folder. Argo CD watches the repository and syncs the cluster. The browser reaches one hostname; the Ingress sends the API to the backend and everything else to the frontend. Prometheus scrapes the backend, and Terraform describes the AWS network and EKS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Correctness is enforced in the database as well as the API. There are seventeen endpoints and three Alembic migrations. Appointments follow a state machine, and an illegal move returns 409. A booking locks the doctor's row before checking for overlaps, so two replicas can never give away the same slot. Migrations run under a Postgres advisory 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eleven jobs. Five test and lint jobs run in parallel. Then both images are built once and scanned by Trivy, and only the scanned image is pushed, tagged with the commit SHA, never latest. The deploy job installs the chart on a kind cluster and runs a smoke test: a booking gets 201, and the same booking again gets 409. Finally the promote job hands the new SHA to Argo CD. The first run was green in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security gate is real. The first frontend image failed on CVE 2026 4775, a high-severity bug in libtiff. ClinicFlow never reads TIFF files; libtiff came in through an nginx module we do not use. The image already ran apk upgrade, but Docker reused a stale cached layer. So I removed the unused modules. The package count dropped from seventy to thirty-one, and the gate went from exit one to exit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defines a VPC in Mumbai with two public and two private subnets across two availability zones, a NAT gateway, and an EKS cluster with a managed node group in the private subnets. That's twenty-three resources. I don't have an AWS account, so I ran init, plan, apply and destroy against the moto AWS emulator. The code is the same; a real run only needs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Kubernetes, the Helm chart deploys two replicas of each tier, ClusterIP services, an Ingress, PostgreSQL as a StatefulSet, an autoscaler and disruption budgets. Staging is installed with helm upgrade install. Production is GitOps: Argo CD syncs whatever SHA the pipeline promoted, prunes what was removed and reverts manual 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it under load. With sixteen workers hitting the Ingress, CPU went to about seven times the target, and the autoscaler went from four to six replicas within thirty seconds, then back to two about seventy-five seconds after the load stopped. I also raced three migration pods against an empty database: one migrated, two waited, all three exited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observability, the backend exposes request and latency metrics, plus clinic metrics read from the database: appointments by status, patients waiting, and the thirty-day no-show rate. Prometheus scrapes every pod. Seven alert rules cover availability and the clinic itself, and the Grafana dashboard ships inside the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learned. A security gate is only as fresh as its layer cache. Git is the deploy interface: the pipeline writes, and Argo CD applies. Every field should have exactly one owner. And a dashboard can mislead: a stacked panel made a few expected 409s look like a flood of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limitations are honest ones. There was no real AWS run, there is no authentication yet, the database is a single instance, and GitOps polls every minute. Next would be a real EKS apply, single sign-on at the Ingress, and a managed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Everything is in the repository, with the README mapping each rubric item to evidence. Now let me show it running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F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30352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3017520"/>
            <a:ext cx="5120640" cy="1097280"/>
          </a:xfrm>
          <a:prstGeom prst="rect">
            <a:avLst/>
          </a:prstGeom>
          <a:noFill/>
          <a:ln/>
        </p:spPr>
        <p:txBody>
          <a:bodyPr wrap="square" rtlCol="0"/>
          <a:lstStyle>
            <a:lvl1pPr algn="l" indent="0" marL="0">
              <a:buNone/>
              <a:defRPr lang="en-US" sz="2200" dirty="0">
                <a:solidFill>
                  <a:srgbClr val="5EEAD4"/>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F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4748B"/>
                </a:solidFill>
              </a:rPr>
              <a:t>ClinicFlow  ·  DevSecOps capstone  ·  Raj Prakash</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F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303520" cy="1097280"/>
          </a:xfrm>
          <a:prstGeom prst="rect">
            <a:avLst/>
          </a:prstGeom>
          <a:noFill/>
          <a:ln/>
        </p:spPr>
        <p:txBody>
          <a:bodyPr wrap="square" lIns="0" tIns="0" rIns="0" bIns="0" rtlCol="0" anchor="b"/>
          <a:lstStyle/>
          <a:p>
            <a:pPr algn="l" indent="0" marL="0">
              <a:buNone/>
            </a:pPr>
            <a:r>
              <a:rPr lang="en-US" sz="5400" b="1" dirty="0">
                <a:solidFill>
                  <a:schemeClr val="bg1"/>
                </a:solidFill>
              </a:rPr>
              <a:t>ClinicFlow</a:t>
            </a:r>
            <a:endParaRPr lang="en-US" sz="5400" dirty="0"/>
          </a:p>
        </p:txBody>
      </p:sp>
      <p:sp>
        <p:nvSpPr>
          <p:cNvPr id="4" name="Text 0"/>
          <p:cNvSpPr/>
          <p:nvPr>
            <p:ph idx="101" type="body" hasCustomPrompt="1"/>
          </p:nvPr>
        </p:nvSpPr>
        <p:spPr>
          <a:xfrm>
            <a:off x="640080" y="3017520"/>
            <a:ext cx="5120640" cy="1097280"/>
          </a:xfrm>
          <a:prstGeom prst="rect">
            <a:avLst/>
          </a:prstGeom>
          <a:noFill/>
          <a:ln/>
        </p:spPr>
        <p:txBody>
          <a:bodyPr wrap="square" lIns="0" tIns="0" rIns="0" bIns="0" rtlCol="0" anchor="t"/>
          <a:lstStyle/>
          <a:p>
            <a:pPr algn="l" indent="0" marL="0">
              <a:buNone/>
            </a:pPr>
            <a:r>
              <a:rPr lang="en-US" sz="2200" dirty="0">
                <a:solidFill>
                  <a:srgbClr val="5EEAD4"/>
                </a:solidFill>
              </a:rPr>
              <a:t>From a laptop to a monitored Kubernetes cluster: a DevSecOps capstone</a:t>
            </a:r>
            <a:endParaRPr lang="en-US" sz="2200" dirty="0"/>
          </a:p>
        </p:txBody>
      </p:sp>
      <p:sp>
        <p:nvSpPr>
          <p:cNvPr id="5" name="author"/>
          <p:cNvSpPr txBox="1"/>
          <p:nvPr/>
        </p:nvSpPr>
        <p:spPr>
          <a:xfrm>
            <a:off x="640080" y="4754880"/>
            <a:ext cx="5303520" cy="365760"/>
          </a:xfrm>
          <a:prstGeom prst="rect">
            <a:avLst/>
          </a:prstGeom>
          <a:noFill/>
          <a:ln/>
        </p:spPr>
        <p:txBody>
          <a:bodyPr wrap="square" lIns="0" tIns="0" rIns="0" bIns="0" rtlCol="0" anchor="ctr"/>
          <a:lstStyle/>
          <a:p>
            <a:pPr indent="0" marL="0">
              <a:buNone/>
            </a:pPr>
            <a:r>
              <a:rPr lang="en-US" sz="1600" dirty="0">
                <a:solidFill>
                  <a:srgbClr val="CBD5E1"/>
                </a:solidFill>
              </a:rPr>
              <a:t>Raj Prakash  ·  24BCS10328  ·  Session 21 final project</a:t>
            </a:r>
            <a:endParaRPr lang="en-US" sz="1600" dirty="0"/>
          </a:p>
        </p:txBody>
      </p:sp>
      <p:sp>
        <p:nvSpPr>
          <p:cNvPr id="6" name="repo"/>
          <p:cNvSpPr txBox="1"/>
          <p:nvPr/>
        </p:nvSpPr>
        <p:spPr>
          <a:xfrm>
            <a:off x="640080" y="5120640"/>
            <a:ext cx="5303520" cy="365760"/>
          </a:xfrm>
          <a:prstGeom prst="rect">
            <a:avLst/>
          </a:prstGeom>
          <a:noFill/>
          <a:ln/>
        </p:spPr>
        <p:txBody>
          <a:bodyPr wrap="square" lIns="0" tIns="0" rIns="0" bIns="0" rtlCol="0" anchor="ctr"/>
          <a:lstStyle/>
          <a:p>
            <a:pPr indent="0" marL="0">
              <a:buNone/>
            </a:pPr>
            <a:r>
              <a:rPr lang="en-US" sz="1400" dirty="0">
                <a:solidFill>
                  <a:srgbClr val="94A3B8"/>
                </a:solidFill>
              </a:rPr>
              <a:t>github.com/RajPrakash681/devsecops-python</a:t>
            </a:r>
            <a:endParaRPr lang="en-US" sz="1400" dirty="0"/>
          </a:p>
        </p:txBody>
      </p:sp>
      <p:sp>
        <p:nvSpPr>
          <p:cNvPr id="7" name="logo-circle"/>
          <p:cNvSpPr/>
          <p:nvPr/>
        </p:nvSpPr>
        <p:spPr>
          <a:xfrm>
            <a:off x="640080" y="822960"/>
            <a:ext cx="731520" cy="731520"/>
          </a:xfrm>
          <a:prstGeom prst="ellipse">
            <a:avLst/>
          </a:prstGeom>
          <a:solidFill>
            <a:schemeClr val="accent1"/>
          </a:solidFill>
          <a:ln w="12700">
            <a:solidFill>
              <a:schemeClr val="accent1"/>
            </a:solidFill>
            <a:prstDash val="solid"/>
          </a:ln>
        </p:spPr>
      </p:sp>
      <p:pic>
        <p:nvPicPr>
          <p:cNvPr id="8" name="logo-icon" descr="preencoded.png">    </p:cNvPr>
          <p:cNvPicPr>
            <a:picLocks noChangeAspect="1"/>
          </p:cNvPicPr>
          <p:nvPr/>
        </p:nvPicPr>
        <p:blipFill>
          <a:blip r:embed="rId1"/>
          <a:stretch>
            <a:fillRect/>
          </a:stretch>
        </p:blipFill>
        <p:spPr>
          <a:xfrm>
            <a:off x="822960" y="1005840"/>
            <a:ext cx="365760" cy="365760"/>
          </a:xfrm>
          <a:prstGeom prst="rect">
            <a:avLst/>
          </a:prstGeom>
        </p:spPr>
      </p:pic>
      <p:pic>
        <p:nvPicPr>
          <p:cNvPr id="9" name="hero" descr="/Users/rajprakash/Desktop/devops/devsecops-python/screenshots/m1-01-app-dashboard.png">    </p:cNvPr>
          <p:cNvPicPr>
            <a:picLocks noChangeAspect="1"/>
          </p:cNvPicPr>
          <p:nvPr/>
        </p:nvPicPr>
        <p:blipFill>
          <a:blip r:embed="rId2"/>
          <a:stretch>
            <a:fillRect/>
          </a:stretch>
        </p:blipFill>
        <p:spPr>
          <a:xfrm>
            <a:off x="6309360" y="1234440"/>
            <a:ext cx="5394960" cy="3374136"/>
          </a:xfrm>
          <a:prstGeom prst="rect">
            <a:avLst/>
          </a:prstGeom>
          <a:effectLst>
            <a:outerShdw sx="100000" sy="100000" kx="0" ky="0" algn="bl" rotWithShape="0" blurRad="101600" dist="25400" dir="5400000">
              <a:srgbClr val="0F172A">
                <a:alpha val="12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 front desk for a multi-doctor clinic</a:t>
            </a:r>
            <a:endParaRPr lang="en-US" sz="3400" dirty="0"/>
          </a:p>
        </p:txBody>
      </p:sp>
      <p:sp>
        <p:nvSpPr>
          <p:cNvPr id="4" name="feat0-circle"/>
          <p:cNvSpPr/>
          <p:nvPr/>
        </p:nvSpPr>
        <p:spPr>
          <a:xfrm>
            <a:off x="548640" y="1417320"/>
            <a:ext cx="685800" cy="685800"/>
          </a:xfrm>
          <a:prstGeom prst="ellipse">
            <a:avLst/>
          </a:prstGeom>
          <a:solidFill>
            <a:schemeClr val="accent1"/>
          </a:solidFill>
          <a:ln w="12700">
            <a:solidFill>
              <a:schemeClr val="accent1"/>
            </a:solidFill>
            <a:prstDash val="solid"/>
          </a:ln>
        </p:spPr>
      </p:sp>
      <p:pic>
        <p:nvPicPr>
          <p:cNvPr id="5" name="feat0-icon" descr="preencoded.png">    </p:cNvPr>
          <p:cNvPicPr>
            <a:picLocks noChangeAspect="1"/>
          </p:cNvPicPr>
          <p:nvPr/>
        </p:nvPicPr>
        <p:blipFill>
          <a:blip r:embed="rId1"/>
          <a:stretch>
            <a:fillRect/>
          </a:stretch>
        </p:blipFill>
        <p:spPr>
          <a:xfrm>
            <a:off x="720090" y="1588770"/>
            <a:ext cx="342900" cy="342900"/>
          </a:xfrm>
          <a:prstGeom prst="rect">
            <a:avLst/>
          </a:prstGeom>
        </p:spPr>
      </p:pic>
      <p:sp>
        <p:nvSpPr>
          <p:cNvPr id="6" name="feat0-head"/>
          <p:cNvSpPr txBox="1"/>
          <p:nvPr/>
        </p:nvSpPr>
        <p:spPr>
          <a:xfrm>
            <a:off x="1463040" y="1371600"/>
            <a:ext cx="4206240" cy="411480"/>
          </a:xfrm>
          <a:prstGeom prst="rect">
            <a:avLst/>
          </a:prstGeom>
          <a:noFill/>
          <a:ln/>
        </p:spPr>
        <p:txBody>
          <a:bodyPr wrap="square" lIns="0" tIns="0" rIns="0" bIns="0" rtlCol="0" anchor="ctr"/>
          <a:lstStyle/>
          <a:p>
            <a:pPr indent="0" marL="0">
              <a:buNone/>
            </a:pPr>
            <a:r>
              <a:rPr lang="en-US" sz="1900" b="1" dirty="0">
                <a:solidFill>
                  <a:schemeClr val="tx1"/>
                </a:solidFill>
              </a:rPr>
              <a:t>Book without double-booking</a:t>
            </a:r>
            <a:endParaRPr lang="en-US" sz="1900" dirty="0"/>
          </a:p>
        </p:txBody>
      </p:sp>
      <p:sp>
        <p:nvSpPr>
          <p:cNvPr id="7" name="feat0-sub"/>
          <p:cNvSpPr txBox="1"/>
          <p:nvPr/>
        </p:nvSpPr>
        <p:spPr>
          <a:xfrm>
            <a:off x="1463040" y="1783080"/>
            <a:ext cx="4206240" cy="685800"/>
          </a:xfrm>
          <a:prstGeom prst="rect">
            <a:avLst/>
          </a:prstGeom>
          <a:noFill/>
          <a:ln/>
        </p:spPr>
        <p:txBody>
          <a:bodyPr wrap="square" lIns="0" tIns="0" rIns="0" bIns="0" rtlCol="0" anchor="t"/>
          <a:lstStyle/>
          <a:p>
            <a:pPr indent="0" marL="0">
              <a:buNone/>
            </a:pPr>
            <a:r>
              <a:rPr lang="en-US" sz="1400" dirty="0">
                <a:solidFill>
                  <a:srgbClr val="64748B"/>
                </a:solidFill>
              </a:rPr>
              <a:t>Free slots per doctor; overlaps rejected under a row lock (409)</a:t>
            </a:r>
            <a:endParaRPr lang="en-US" sz="1400" dirty="0"/>
          </a:p>
        </p:txBody>
      </p:sp>
      <p:sp>
        <p:nvSpPr>
          <p:cNvPr id="8" name="feat1-circle"/>
          <p:cNvSpPr/>
          <p:nvPr/>
        </p:nvSpPr>
        <p:spPr>
          <a:xfrm>
            <a:off x="548640" y="2880360"/>
            <a:ext cx="685800" cy="685800"/>
          </a:xfrm>
          <a:prstGeom prst="ellipse">
            <a:avLst/>
          </a:prstGeom>
          <a:solidFill>
            <a:schemeClr val="accent1"/>
          </a:solidFill>
          <a:ln w="12700">
            <a:solidFill>
              <a:schemeClr val="accent1"/>
            </a:solidFill>
            <a:prstDash val="solid"/>
          </a:ln>
        </p:spPr>
      </p:sp>
      <p:pic>
        <p:nvPicPr>
          <p:cNvPr id="9" name="feat1-icon" descr="preencoded.png">    </p:cNvPr>
          <p:cNvPicPr>
            <a:picLocks noChangeAspect="1"/>
          </p:cNvPicPr>
          <p:nvPr/>
        </p:nvPicPr>
        <p:blipFill>
          <a:blip r:embed="rId2"/>
          <a:stretch>
            <a:fillRect/>
          </a:stretch>
        </p:blipFill>
        <p:spPr>
          <a:xfrm>
            <a:off x="720090" y="3051810"/>
            <a:ext cx="342900" cy="342900"/>
          </a:xfrm>
          <a:prstGeom prst="rect">
            <a:avLst/>
          </a:prstGeom>
        </p:spPr>
      </p:pic>
      <p:sp>
        <p:nvSpPr>
          <p:cNvPr id="10" name="feat1-head"/>
          <p:cNvSpPr txBox="1"/>
          <p:nvPr/>
        </p:nvSpPr>
        <p:spPr>
          <a:xfrm>
            <a:off x="1463040" y="2834640"/>
            <a:ext cx="4206240" cy="411480"/>
          </a:xfrm>
          <a:prstGeom prst="rect">
            <a:avLst/>
          </a:prstGeom>
          <a:noFill/>
          <a:ln/>
        </p:spPr>
        <p:txBody>
          <a:bodyPr wrap="square" lIns="0" tIns="0" rIns="0" bIns="0" rtlCol="0" anchor="ctr"/>
          <a:lstStyle/>
          <a:p>
            <a:pPr indent="0" marL="0">
              <a:buNone/>
            </a:pPr>
            <a:r>
              <a:rPr lang="en-US" sz="1900" b="1" dirty="0">
                <a:solidFill>
                  <a:schemeClr val="tx1"/>
                </a:solidFill>
              </a:rPr>
              <a:t>Check-in workflow with an audit trail</a:t>
            </a:r>
            <a:endParaRPr lang="en-US" sz="1900" dirty="0"/>
          </a:p>
        </p:txBody>
      </p:sp>
      <p:sp>
        <p:nvSpPr>
          <p:cNvPr id="11" name="feat1-sub"/>
          <p:cNvSpPr txBox="1"/>
          <p:nvPr/>
        </p:nvSpPr>
        <p:spPr>
          <a:xfrm>
            <a:off x="1463040" y="3246120"/>
            <a:ext cx="4206240" cy="685800"/>
          </a:xfrm>
          <a:prstGeom prst="rect">
            <a:avLst/>
          </a:prstGeom>
          <a:noFill/>
          <a:ln/>
        </p:spPr>
        <p:txBody>
          <a:bodyPr wrap="square" lIns="0" tIns="0" rIns="0" bIns="0" rtlCol="0" anchor="t"/>
          <a:lstStyle/>
          <a:p>
            <a:pPr indent="0" marL="0">
              <a:buNone/>
            </a:pPr>
            <a:r>
              <a:rPr lang="en-US" sz="1400" dirty="0">
                <a:solidFill>
                  <a:srgbClr val="64748B"/>
                </a:solidFill>
              </a:rPr>
              <a:t>Booked → Waiting → Completed, or Cancelled / No-show; illegal moves refused</a:t>
            </a:r>
            <a:endParaRPr lang="en-US" sz="1400" dirty="0"/>
          </a:p>
        </p:txBody>
      </p:sp>
      <p:sp>
        <p:nvSpPr>
          <p:cNvPr id="12" name="feat2-circle"/>
          <p:cNvSpPr/>
          <p:nvPr/>
        </p:nvSpPr>
        <p:spPr>
          <a:xfrm>
            <a:off x="548640" y="4343400"/>
            <a:ext cx="685800" cy="685800"/>
          </a:xfrm>
          <a:prstGeom prst="ellipse">
            <a:avLst/>
          </a:prstGeom>
          <a:solidFill>
            <a:schemeClr val="accent1"/>
          </a:solidFill>
          <a:ln w="12700">
            <a:solidFill>
              <a:schemeClr val="accent1"/>
            </a:solidFill>
            <a:prstDash val="solid"/>
          </a:ln>
        </p:spPr>
      </p:sp>
      <p:pic>
        <p:nvPicPr>
          <p:cNvPr id="13" name="feat2-icon" descr="preencoded.png">    </p:cNvPr>
          <p:cNvPicPr>
            <a:picLocks noChangeAspect="1"/>
          </p:cNvPicPr>
          <p:nvPr/>
        </p:nvPicPr>
        <p:blipFill>
          <a:blip r:embed="rId3"/>
          <a:stretch>
            <a:fillRect/>
          </a:stretch>
        </p:blipFill>
        <p:spPr>
          <a:xfrm>
            <a:off x="720090" y="4514850"/>
            <a:ext cx="342900" cy="342900"/>
          </a:xfrm>
          <a:prstGeom prst="rect">
            <a:avLst/>
          </a:prstGeom>
        </p:spPr>
      </p:pic>
      <p:sp>
        <p:nvSpPr>
          <p:cNvPr id="14" name="feat2-head"/>
          <p:cNvSpPr txBox="1"/>
          <p:nvPr/>
        </p:nvSpPr>
        <p:spPr>
          <a:xfrm>
            <a:off x="1463040" y="4297680"/>
            <a:ext cx="4206240" cy="411480"/>
          </a:xfrm>
          <a:prstGeom prst="rect">
            <a:avLst/>
          </a:prstGeom>
          <a:noFill/>
          <a:ln/>
        </p:spPr>
        <p:txBody>
          <a:bodyPr wrap="square" lIns="0" tIns="0" rIns="0" bIns="0" rtlCol="0" anchor="ctr"/>
          <a:lstStyle/>
          <a:p>
            <a:pPr indent="0" marL="0">
              <a:buNone/>
            </a:pPr>
            <a:r>
              <a:rPr lang="en-US" sz="1900" b="1" dirty="0">
                <a:solidFill>
                  <a:schemeClr val="tx1"/>
                </a:solidFill>
              </a:rPr>
              <a:t>Live clinic KPIs</a:t>
            </a:r>
            <a:endParaRPr lang="en-US" sz="1900" dirty="0"/>
          </a:p>
        </p:txBody>
      </p:sp>
      <p:sp>
        <p:nvSpPr>
          <p:cNvPr id="15" name="feat2-sub"/>
          <p:cNvSpPr txBox="1"/>
          <p:nvPr/>
        </p:nvSpPr>
        <p:spPr>
          <a:xfrm>
            <a:off x="1463040" y="4709160"/>
            <a:ext cx="4206240" cy="685800"/>
          </a:xfrm>
          <a:prstGeom prst="rect">
            <a:avLst/>
          </a:prstGeom>
          <a:noFill/>
          <a:ln/>
        </p:spPr>
        <p:txBody>
          <a:bodyPr wrap="square" lIns="0" tIns="0" rIns="0" bIns="0" rtlCol="0" anchor="t"/>
          <a:lstStyle/>
          <a:p>
            <a:pPr indent="0" marL="0">
              <a:buNone/>
            </a:pPr>
            <a:r>
              <a:rPr lang="en-US" sz="1400" dirty="0">
                <a:solidFill>
                  <a:srgbClr val="64748B"/>
                </a:solidFill>
              </a:rPr>
              <a:t>Waiting room, doctor utilisation and the 30-day no-show rate</a:t>
            </a:r>
            <a:endParaRPr lang="en-US" sz="1400" dirty="0"/>
          </a:p>
        </p:txBody>
      </p:sp>
      <p:pic>
        <p:nvPicPr>
          <p:cNvPr id="16" name="booking" descr="/Users/rajprakash/Desktop/devops/devsecops-python/screenshots/m1-02-booking-free-slots.png">    </p:cNvPr>
          <p:cNvPicPr>
            <a:picLocks noChangeAspect="1"/>
          </p:cNvPicPr>
          <p:nvPr/>
        </p:nvPicPr>
        <p:blipFill>
          <a:blip r:embed="rId4"/>
          <a:stretch>
            <a:fillRect/>
          </a:stretch>
        </p:blipFill>
        <p:spPr>
          <a:xfrm>
            <a:off x="6035040" y="1371600"/>
            <a:ext cx="5577840" cy="3483864"/>
          </a:xfrm>
          <a:prstGeom prst="rect">
            <a:avLst/>
          </a:prstGeom>
          <a:effectLst>
            <a:outerShdw sx="100000" sy="100000" kx="0" ky="0" algn="bl" rotWithShape="0" blurRad="101600" dist="25400" dir="5400000">
              <a:srgbClr val="0F172A">
                <a:alpha val="12000"/>
              </a:srgbClr>
            </a:outerShdw>
          </a:effectLst>
        </p:spPr>
      </p:pic>
      <p:sp>
        <p:nvSpPr>
          <p:cNvPr id="17" name="domain-note"/>
          <p:cNvSpPr txBox="1"/>
          <p:nvPr/>
        </p:nvSpPr>
        <p:spPr>
          <a:xfrm>
            <a:off x="6035040" y="5074920"/>
            <a:ext cx="5577840" cy="365760"/>
          </a:xfrm>
          <a:prstGeom prst="rect">
            <a:avLst/>
          </a:prstGeom>
          <a:noFill/>
          <a:ln/>
        </p:spPr>
        <p:txBody>
          <a:bodyPr wrap="square" lIns="0" tIns="0" rIns="0" bIns="0" rtlCol="0" anchor="ctr"/>
          <a:lstStyle/>
          <a:p>
            <a:pPr indent="0" marL="0">
              <a:buNone/>
            </a:pPr>
            <a:r>
              <a:rPr lang="en-US" sz="1200" i="1" dirty="0">
                <a:solidFill>
                  <a:srgbClr val="64748B"/>
                </a:solidFill>
              </a:rPr>
              <a:t>Domain is my own; the DevOps layer follows the course's TaskBoard architecture.</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Tech stack</a:t>
            </a:r>
            <a:endParaRPr lang="en-US" sz="3400" dirty="0"/>
          </a:p>
        </p:txBody>
      </p:sp>
      <p:sp>
        <p:nvSpPr>
          <p:cNvPr id="4" name="stack0"/>
          <p:cNvSpPr/>
          <p:nvPr/>
        </p:nvSpPr>
        <p:spPr>
          <a:xfrm>
            <a:off x="548640" y="1463040"/>
            <a:ext cx="2578608" cy="2057400"/>
          </a:xfrm>
          <a:prstGeom prst="roundRect">
            <a:avLst>
              <a:gd name="adj" fmla="val 3556"/>
            </a:avLst>
          </a:prstGeom>
          <a:solidFill>
            <a:schemeClr val="bg2"/>
          </a:solidFill>
          <a:ln w="12700">
            <a:solidFill>
              <a:schemeClr val="bg2"/>
            </a:solidFill>
            <a:prstDash val="solid"/>
          </a:ln>
        </p:spPr>
      </p:sp>
      <p:sp>
        <p:nvSpPr>
          <p:cNvPr id="5" name="stack0-circle"/>
          <p:cNvSpPr/>
          <p:nvPr/>
        </p:nvSpPr>
        <p:spPr>
          <a:xfrm>
            <a:off x="822960" y="1737360"/>
            <a:ext cx="640080" cy="640080"/>
          </a:xfrm>
          <a:prstGeom prst="ellipse">
            <a:avLst/>
          </a:prstGeom>
          <a:solidFill>
            <a:schemeClr val="accent1"/>
          </a:solidFill>
          <a:ln w="12700">
            <a:solidFill>
              <a:schemeClr val="accent1"/>
            </a:solidFill>
            <a:prstDash val="solid"/>
          </a:ln>
        </p:spPr>
      </p:sp>
      <p:pic>
        <p:nvPicPr>
          <p:cNvPr id="6" name="stack0-icon" descr="preencoded.png">    </p:cNvPr>
          <p:cNvPicPr>
            <a:picLocks noChangeAspect="1"/>
          </p:cNvPicPr>
          <p:nvPr/>
        </p:nvPicPr>
        <p:blipFill>
          <a:blip r:embed="rId1"/>
          <a:stretch>
            <a:fillRect/>
          </a:stretch>
        </p:blipFill>
        <p:spPr>
          <a:xfrm>
            <a:off x="982980" y="1897380"/>
            <a:ext cx="320040" cy="320040"/>
          </a:xfrm>
          <a:prstGeom prst="rect">
            <a:avLst/>
          </a:prstGeom>
        </p:spPr>
      </p:pic>
      <p:sp>
        <p:nvSpPr>
          <p:cNvPr id="7" name="stack0-head"/>
          <p:cNvSpPr txBox="1"/>
          <p:nvPr/>
        </p:nvSpPr>
        <p:spPr>
          <a:xfrm>
            <a:off x="822960" y="2468880"/>
            <a:ext cx="2103120" cy="365760"/>
          </a:xfrm>
          <a:prstGeom prst="rect">
            <a:avLst/>
          </a:prstGeom>
          <a:noFill/>
          <a:ln/>
        </p:spPr>
        <p:txBody>
          <a:bodyPr wrap="square" lIns="0" tIns="0" rIns="0" bIns="0" rtlCol="0" anchor="ctr"/>
          <a:lstStyle/>
          <a:p>
            <a:pPr indent="0" marL="0">
              <a:buNone/>
            </a:pPr>
            <a:r>
              <a:rPr lang="en-US" sz="1800" b="1" dirty="0">
                <a:solidFill>
                  <a:schemeClr val="tx1"/>
                </a:solidFill>
              </a:rPr>
              <a:t>Application</a:t>
            </a:r>
            <a:endParaRPr lang="en-US" sz="1800" dirty="0"/>
          </a:p>
        </p:txBody>
      </p:sp>
      <p:sp>
        <p:nvSpPr>
          <p:cNvPr id="8" name="stack0-sub"/>
          <p:cNvSpPr txBox="1"/>
          <p:nvPr/>
        </p:nvSpPr>
        <p:spPr>
          <a:xfrm>
            <a:off x="822960" y="2834640"/>
            <a:ext cx="2148840" cy="548640"/>
          </a:xfrm>
          <a:prstGeom prst="rect">
            <a:avLst/>
          </a:prstGeom>
          <a:noFill/>
          <a:ln/>
        </p:spPr>
        <p:txBody>
          <a:bodyPr wrap="square" lIns="0" tIns="0" rIns="0" bIns="0" rtlCol="0" anchor="t"/>
          <a:lstStyle/>
          <a:p>
            <a:pPr indent="0" marL="0">
              <a:buNone/>
            </a:pPr>
            <a:r>
              <a:rPr lang="en-US" sz="1300" dirty="0">
                <a:solidFill>
                  <a:srgbClr val="64748B"/>
                </a:solidFill>
              </a:rPr>
              <a:t>React 19 · FastAPI · PostgreSQL 17</a:t>
            </a:r>
            <a:endParaRPr lang="en-US" sz="1300" dirty="0"/>
          </a:p>
        </p:txBody>
      </p:sp>
      <p:sp>
        <p:nvSpPr>
          <p:cNvPr id="9" name="stack1"/>
          <p:cNvSpPr/>
          <p:nvPr/>
        </p:nvSpPr>
        <p:spPr>
          <a:xfrm>
            <a:off x="3355848" y="1463040"/>
            <a:ext cx="2578608" cy="2057400"/>
          </a:xfrm>
          <a:prstGeom prst="roundRect">
            <a:avLst>
              <a:gd name="adj" fmla="val 3556"/>
            </a:avLst>
          </a:prstGeom>
          <a:solidFill>
            <a:schemeClr val="bg2"/>
          </a:solidFill>
          <a:ln w="12700">
            <a:solidFill>
              <a:schemeClr val="bg2"/>
            </a:solidFill>
            <a:prstDash val="solid"/>
          </a:ln>
        </p:spPr>
      </p:sp>
      <p:sp>
        <p:nvSpPr>
          <p:cNvPr id="10" name="stack1-circle"/>
          <p:cNvSpPr/>
          <p:nvPr/>
        </p:nvSpPr>
        <p:spPr>
          <a:xfrm>
            <a:off x="3630168" y="1737360"/>
            <a:ext cx="640080" cy="640080"/>
          </a:xfrm>
          <a:prstGeom prst="ellipse">
            <a:avLst/>
          </a:prstGeom>
          <a:solidFill>
            <a:schemeClr val="accent1"/>
          </a:solidFill>
          <a:ln w="12700">
            <a:solidFill>
              <a:schemeClr val="accent1"/>
            </a:solidFill>
            <a:prstDash val="solid"/>
          </a:ln>
        </p:spPr>
      </p:sp>
      <p:pic>
        <p:nvPicPr>
          <p:cNvPr id="11" name="stack1-icon" descr="preencoded.png">    </p:cNvPr>
          <p:cNvPicPr>
            <a:picLocks noChangeAspect="1"/>
          </p:cNvPicPr>
          <p:nvPr/>
        </p:nvPicPr>
        <p:blipFill>
          <a:blip r:embed="rId2"/>
          <a:stretch>
            <a:fillRect/>
          </a:stretch>
        </p:blipFill>
        <p:spPr>
          <a:xfrm>
            <a:off x="3790188" y="1897380"/>
            <a:ext cx="320040" cy="320040"/>
          </a:xfrm>
          <a:prstGeom prst="rect">
            <a:avLst/>
          </a:prstGeom>
        </p:spPr>
      </p:pic>
      <p:sp>
        <p:nvSpPr>
          <p:cNvPr id="12" name="stack1-head"/>
          <p:cNvSpPr txBox="1"/>
          <p:nvPr/>
        </p:nvSpPr>
        <p:spPr>
          <a:xfrm>
            <a:off x="3630168" y="2468880"/>
            <a:ext cx="2103120" cy="365760"/>
          </a:xfrm>
          <a:prstGeom prst="rect">
            <a:avLst/>
          </a:prstGeom>
          <a:noFill/>
          <a:ln/>
        </p:spPr>
        <p:txBody>
          <a:bodyPr wrap="square" lIns="0" tIns="0" rIns="0" bIns="0" rtlCol="0" anchor="ctr"/>
          <a:lstStyle/>
          <a:p>
            <a:pPr indent="0" marL="0">
              <a:buNone/>
            </a:pPr>
            <a:r>
              <a:rPr lang="en-US" sz="1800" b="1" dirty="0">
                <a:solidFill>
                  <a:schemeClr val="tx1"/>
                </a:solidFill>
              </a:rPr>
              <a:t>Testing</a:t>
            </a:r>
            <a:endParaRPr lang="en-US" sz="1800" dirty="0"/>
          </a:p>
        </p:txBody>
      </p:sp>
      <p:sp>
        <p:nvSpPr>
          <p:cNvPr id="13" name="stack1-sub"/>
          <p:cNvSpPr txBox="1"/>
          <p:nvPr/>
        </p:nvSpPr>
        <p:spPr>
          <a:xfrm>
            <a:off x="3630168" y="2834640"/>
            <a:ext cx="2148840" cy="548640"/>
          </a:xfrm>
          <a:prstGeom prst="rect">
            <a:avLst/>
          </a:prstGeom>
          <a:noFill/>
          <a:ln/>
        </p:spPr>
        <p:txBody>
          <a:bodyPr wrap="square" lIns="0" tIns="0" rIns="0" bIns="0" rtlCol="0" anchor="t"/>
          <a:lstStyle/>
          <a:p>
            <a:pPr indent="0" marL="0">
              <a:buNone/>
            </a:pPr>
            <a:r>
              <a:rPr lang="en-US" sz="1300" dirty="0">
                <a:solidFill>
                  <a:srgbClr val="64748B"/>
                </a:solidFill>
              </a:rPr>
              <a:t>pytest · 32 cases · 92% coverage</a:t>
            </a:r>
            <a:endParaRPr lang="en-US" sz="1300" dirty="0"/>
          </a:p>
        </p:txBody>
      </p:sp>
      <p:sp>
        <p:nvSpPr>
          <p:cNvPr id="14" name="stack2"/>
          <p:cNvSpPr/>
          <p:nvPr/>
        </p:nvSpPr>
        <p:spPr>
          <a:xfrm>
            <a:off x="6163056" y="1463040"/>
            <a:ext cx="2578608" cy="2057400"/>
          </a:xfrm>
          <a:prstGeom prst="roundRect">
            <a:avLst>
              <a:gd name="adj" fmla="val 3556"/>
            </a:avLst>
          </a:prstGeom>
          <a:solidFill>
            <a:schemeClr val="bg2"/>
          </a:solidFill>
          <a:ln w="12700">
            <a:solidFill>
              <a:schemeClr val="bg2"/>
            </a:solidFill>
            <a:prstDash val="solid"/>
          </a:ln>
        </p:spPr>
      </p:sp>
      <p:sp>
        <p:nvSpPr>
          <p:cNvPr id="15" name="stack2-circle"/>
          <p:cNvSpPr/>
          <p:nvPr/>
        </p:nvSpPr>
        <p:spPr>
          <a:xfrm>
            <a:off x="6437376" y="1737360"/>
            <a:ext cx="640080" cy="640080"/>
          </a:xfrm>
          <a:prstGeom prst="ellipse">
            <a:avLst/>
          </a:prstGeom>
          <a:solidFill>
            <a:schemeClr val="accent1"/>
          </a:solidFill>
          <a:ln w="12700">
            <a:solidFill>
              <a:schemeClr val="accent1"/>
            </a:solidFill>
            <a:prstDash val="solid"/>
          </a:ln>
        </p:spPr>
      </p:sp>
      <p:pic>
        <p:nvPicPr>
          <p:cNvPr id="16" name="stack2-icon" descr="preencoded.png">    </p:cNvPr>
          <p:cNvPicPr>
            <a:picLocks noChangeAspect="1"/>
          </p:cNvPicPr>
          <p:nvPr/>
        </p:nvPicPr>
        <p:blipFill>
          <a:blip r:embed="rId3"/>
          <a:stretch>
            <a:fillRect/>
          </a:stretch>
        </p:blipFill>
        <p:spPr>
          <a:xfrm>
            <a:off x="6597396" y="1897380"/>
            <a:ext cx="320040" cy="320040"/>
          </a:xfrm>
          <a:prstGeom prst="rect">
            <a:avLst/>
          </a:prstGeom>
        </p:spPr>
      </p:pic>
      <p:sp>
        <p:nvSpPr>
          <p:cNvPr id="17" name="stack2-head"/>
          <p:cNvSpPr txBox="1"/>
          <p:nvPr/>
        </p:nvSpPr>
        <p:spPr>
          <a:xfrm>
            <a:off x="6437376" y="2468880"/>
            <a:ext cx="2103120" cy="365760"/>
          </a:xfrm>
          <a:prstGeom prst="rect">
            <a:avLst/>
          </a:prstGeom>
          <a:noFill/>
          <a:ln/>
        </p:spPr>
        <p:txBody>
          <a:bodyPr wrap="square" lIns="0" tIns="0" rIns="0" bIns="0" rtlCol="0" anchor="ctr"/>
          <a:lstStyle/>
          <a:p>
            <a:pPr indent="0" marL="0">
              <a:buNone/>
            </a:pPr>
            <a:r>
              <a:rPr lang="en-US" sz="1800" b="1" dirty="0">
                <a:solidFill>
                  <a:schemeClr val="tx1"/>
                </a:solidFill>
              </a:rPr>
              <a:t>Containers</a:t>
            </a:r>
            <a:endParaRPr lang="en-US" sz="1800" dirty="0"/>
          </a:p>
        </p:txBody>
      </p:sp>
      <p:sp>
        <p:nvSpPr>
          <p:cNvPr id="18" name="stack2-sub"/>
          <p:cNvSpPr txBox="1"/>
          <p:nvPr/>
        </p:nvSpPr>
        <p:spPr>
          <a:xfrm>
            <a:off x="6437376" y="2834640"/>
            <a:ext cx="2148840" cy="548640"/>
          </a:xfrm>
          <a:prstGeom prst="rect">
            <a:avLst/>
          </a:prstGeom>
          <a:noFill/>
          <a:ln/>
        </p:spPr>
        <p:txBody>
          <a:bodyPr wrap="square" lIns="0" tIns="0" rIns="0" bIns="0" rtlCol="0" anchor="t"/>
          <a:lstStyle/>
          <a:p>
            <a:pPr indent="0" marL="0">
              <a:buNone/>
            </a:pPr>
            <a:r>
              <a:rPr lang="en-US" sz="1300" dirty="0">
                <a:solidFill>
                  <a:srgbClr val="64748B"/>
                </a:solidFill>
              </a:rPr>
              <a:t>Multi-stage builds · non-root</a:t>
            </a:r>
            <a:endParaRPr lang="en-US" sz="1300" dirty="0"/>
          </a:p>
        </p:txBody>
      </p:sp>
      <p:sp>
        <p:nvSpPr>
          <p:cNvPr id="19" name="stack3"/>
          <p:cNvSpPr/>
          <p:nvPr/>
        </p:nvSpPr>
        <p:spPr>
          <a:xfrm>
            <a:off x="8970264" y="1463040"/>
            <a:ext cx="2578608" cy="2057400"/>
          </a:xfrm>
          <a:prstGeom prst="roundRect">
            <a:avLst>
              <a:gd name="adj" fmla="val 3556"/>
            </a:avLst>
          </a:prstGeom>
          <a:solidFill>
            <a:schemeClr val="bg2"/>
          </a:solidFill>
          <a:ln w="12700">
            <a:solidFill>
              <a:schemeClr val="bg2"/>
            </a:solidFill>
            <a:prstDash val="solid"/>
          </a:ln>
        </p:spPr>
      </p:sp>
      <p:sp>
        <p:nvSpPr>
          <p:cNvPr id="20" name="stack3-circle"/>
          <p:cNvSpPr/>
          <p:nvPr/>
        </p:nvSpPr>
        <p:spPr>
          <a:xfrm>
            <a:off x="9244584" y="1737360"/>
            <a:ext cx="640080" cy="640080"/>
          </a:xfrm>
          <a:prstGeom prst="ellipse">
            <a:avLst/>
          </a:prstGeom>
          <a:solidFill>
            <a:schemeClr val="accent1"/>
          </a:solidFill>
          <a:ln w="12700">
            <a:solidFill>
              <a:schemeClr val="accent1"/>
            </a:solidFill>
            <a:prstDash val="solid"/>
          </a:ln>
        </p:spPr>
      </p:sp>
      <p:pic>
        <p:nvPicPr>
          <p:cNvPr id="21" name="stack3-icon" descr="preencoded.png">    </p:cNvPr>
          <p:cNvPicPr>
            <a:picLocks noChangeAspect="1"/>
          </p:cNvPicPr>
          <p:nvPr/>
        </p:nvPicPr>
        <p:blipFill>
          <a:blip r:embed="rId4"/>
          <a:stretch>
            <a:fillRect/>
          </a:stretch>
        </p:blipFill>
        <p:spPr>
          <a:xfrm>
            <a:off x="9404604" y="1897380"/>
            <a:ext cx="320040" cy="320040"/>
          </a:xfrm>
          <a:prstGeom prst="rect">
            <a:avLst/>
          </a:prstGeom>
        </p:spPr>
      </p:pic>
      <p:sp>
        <p:nvSpPr>
          <p:cNvPr id="22" name="stack3-head"/>
          <p:cNvSpPr txBox="1"/>
          <p:nvPr/>
        </p:nvSpPr>
        <p:spPr>
          <a:xfrm>
            <a:off x="9244584" y="2468880"/>
            <a:ext cx="2103120" cy="365760"/>
          </a:xfrm>
          <a:prstGeom prst="rect">
            <a:avLst/>
          </a:prstGeom>
          <a:noFill/>
          <a:ln/>
        </p:spPr>
        <p:txBody>
          <a:bodyPr wrap="square" lIns="0" tIns="0" rIns="0" bIns="0" rtlCol="0" anchor="ctr"/>
          <a:lstStyle/>
          <a:p>
            <a:pPr indent="0" marL="0">
              <a:buNone/>
            </a:pPr>
            <a:r>
              <a:rPr lang="en-US" sz="1800" b="1" dirty="0">
                <a:solidFill>
                  <a:schemeClr val="tx1"/>
                </a:solidFill>
              </a:rPr>
              <a:t>CI/CD</a:t>
            </a:r>
            <a:endParaRPr lang="en-US" sz="1800" dirty="0"/>
          </a:p>
        </p:txBody>
      </p:sp>
      <p:sp>
        <p:nvSpPr>
          <p:cNvPr id="23" name="stack3-sub"/>
          <p:cNvSpPr txBox="1"/>
          <p:nvPr/>
        </p:nvSpPr>
        <p:spPr>
          <a:xfrm>
            <a:off x="9244584" y="2834640"/>
            <a:ext cx="2148840" cy="548640"/>
          </a:xfrm>
          <a:prstGeom prst="rect">
            <a:avLst/>
          </a:prstGeom>
          <a:noFill/>
          <a:ln/>
        </p:spPr>
        <p:txBody>
          <a:bodyPr wrap="square" lIns="0" tIns="0" rIns="0" bIns="0" rtlCol="0" anchor="t"/>
          <a:lstStyle/>
          <a:p>
            <a:pPr indent="0" marL="0">
              <a:buNone/>
            </a:pPr>
            <a:r>
              <a:rPr lang="en-US" sz="1300" dirty="0">
                <a:solidFill>
                  <a:srgbClr val="64748B"/>
                </a:solidFill>
              </a:rPr>
              <a:t>GitHub Actions · GHCR · SHA tags</a:t>
            </a:r>
            <a:endParaRPr lang="en-US" sz="1300" dirty="0"/>
          </a:p>
        </p:txBody>
      </p:sp>
      <p:sp>
        <p:nvSpPr>
          <p:cNvPr id="24" name="stack4"/>
          <p:cNvSpPr/>
          <p:nvPr/>
        </p:nvSpPr>
        <p:spPr>
          <a:xfrm>
            <a:off x="548640" y="3794760"/>
            <a:ext cx="2578608" cy="2057400"/>
          </a:xfrm>
          <a:prstGeom prst="roundRect">
            <a:avLst>
              <a:gd name="adj" fmla="val 3556"/>
            </a:avLst>
          </a:prstGeom>
          <a:solidFill>
            <a:schemeClr val="bg2"/>
          </a:solidFill>
          <a:ln w="12700">
            <a:solidFill>
              <a:schemeClr val="bg2"/>
            </a:solidFill>
            <a:prstDash val="solid"/>
          </a:ln>
        </p:spPr>
      </p:sp>
      <p:sp>
        <p:nvSpPr>
          <p:cNvPr id="25" name="stack4-circle"/>
          <p:cNvSpPr/>
          <p:nvPr/>
        </p:nvSpPr>
        <p:spPr>
          <a:xfrm>
            <a:off x="822960" y="4069080"/>
            <a:ext cx="640080" cy="640080"/>
          </a:xfrm>
          <a:prstGeom prst="ellipse">
            <a:avLst/>
          </a:prstGeom>
          <a:solidFill>
            <a:schemeClr val="tx2"/>
          </a:solidFill>
          <a:ln w="12700">
            <a:solidFill>
              <a:schemeClr val="tx2"/>
            </a:solidFill>
            <a:prstDash val="solid"/>
          </a:ln>
        </p:spPr>
      </p:sp>
      <p:pic>
        <p:nvPicPr>
          <p:cNvPr id="26" name="stack4-icon" descr="preencoded.png">    </p:cNvPr>
          <p:cNvPicPr>
            <a:picLocks noChangeAspect="1"/>
          </p:cNvPicPr>
          <p:nvPr/>
        </p:nvPicPr>
        <p:blipFill>
          <a:blip r:embed="rId5"/>
          <a:stretch>
            <a:fillRect/>
          </a:stretch>
        </p:blipFill>
        <p:spPr>
          <a:xfrm>
            <a:off x="982980" y="4229100"/>
            <a:ext cx="320040" cy="320040"/>
          </a:xfrm>
          <a:prstGeom prst="rect">
            <a:avLst/>
          </a:prstGeom>
        </p:spPr>
      </p:pic>
      <p:sp>
        <p:nvSpPr>
          <p:cNvPr id="27" name="stack4-head"/>
          <p:cNvSpPr txBox="1"/>
          <p:nvPr/>
        </p:nvSpPr>
        <p:spPr>
          <a:xfrm>
            <a:off x="822960" y="4800600"/>
            <a:ext cx="2103120" cy="365760"/>
          </a:xfrm>
          <a:prstGeom prst="rect">
            <a:avLst/>
          </a:prstGeom>
          <a:noFill/>
          <a:ln/>
        </p:spPr>
        <p:txBody>
          <a:bodyPr wrap="square" lIns="0" tIns="0" rIns="0" bIns="0" rtlCol="0" anchor="ctr"/>
          <a:lstStyle/>
          <a:p>
            <a:pPr indent="0" marL="0">
              <a:buNone/>
            </a:pPr>
            <a:r>
              <a:rPr lang="en-US" sz="1800" b="1" dirty="0">
                <a:solidFill>
                  <a:schemeClr val="tx1"/>
                </a:solidFill>
              </a:rPr>
              <a:t>Security</a:t>
            </a:r>
            <a:endParaRPr lang="en-US" sz="1800" dirty="0"/>
          </a:p>
        </p:txBody>
      </p:sp>
      <p:sp>
        <p:nvSpPr>
          <p:cNvPr id="28" name="stack4-sub"/>
          <p:cNvSpPr txBox="1"/>
          <p:nvPr/>
        </p:nvSpPr>
        <p:spPr>
          <a:xfrm>
            <a:off x="822960" y="5166360"/>
            <a:ext cx="2148840" cy="548640"/>
          </a:xfrm>
          <a:prstGeom prst="rect">
            <a:avLst/>
          </a:prstGeom>
          <a:noFill/>
          <a:ln/>
        </p:spPr>
        <p:txBody>
          <a:bodyPr wrap="square" lIns="0" tIns="0" rIns="0" bIns="0" rtlCol="0" anchor="t"/>
          <a:lstStyle/>
          <a:p>
            <a:pPr indent="0" marL="0">
              <a:buNone/>
            </a:pPr>
            <a:r>
              <a:rPr lang="en-US" sz="1300" dirty="0">
                <a:solidFill>
                  <a:srgbClr val="64748B"/>
                </a:solidFill>
              </a:rPr>
              <a:t>Trivy · Gitleaks · Bandit · PSS</a:t>
            </a:r>
            <a:endParaRPr lang="en-US" sz="1300" dirty="0"/>
          </a:p>
        </p:txBody>
      </p:sp>
      <p:sp>
        <p:nvSpPr>
          <p:cNvPr id="29" name="stack5"/>
          <p:cNvSpPr/>
          <p:nvPr/>
        </p:nvSpPr>
        <p:spPr>
          <a:xfrm>
            <a:off x="3355848" y="3794760"/>
            <a:ext cx="2578608" cy="2057400"/>
          </a:xfrm>
          <a:prstGeom prst="roundRect">
            <a:avLst>
              <a:gd name="adj" fmla="val 3556"/>
            </a:avLst>
          </a:prstGeom>
          <a:solidFill>
            <a:schemeClr val="bg2"/>
          </a:solidFill>
          <a:ln w="12700">
            <a:solidFill>
              <a:schemeClr val="bg2"/>
            </a:solidFill>
            <a:prstDash val="solid"/>
          </a:ln>
        </p:spPr>
      </p:sp>
      <p:sp>
        <p:nvSpPr>
          <p:cNvPr id="30" name="stack5-circle"/>
          <p:cNvSpPr/>
          <p:nvPr/>
        </p:nvSpPr>
        <p:spPr>
          <a:xfrm>
            <a:off x="3630168" y="4069080"/>
            <a:ext cx="640080" cy="640080"/>
          </a:xfrm>
          <a:prstGeom prst="ellipse">
            <a:avLst/>
          </a:prstGeom>
          <a:solidFill>
            <a:schemeClr val="tx2"/>
          </a:solidFill>
          <a:ln w="12700">
            <a:solidFill>
              <a:schemeClr val="tx2"/>
            </a:solidFill>
            <a:prstDash val="solid"/>
          </a:ln>
        </p:spPr>
      </p:sp>
      <p:pic>
        <p:nvPicPr>
          <p:cNvPr id="31" name="stack5-icon" descr="preencoded.png">    </p:cNvPr>
          <p:cNvPicPr>
            <a:picLocks noChangeAspect="1"/>
          </p:cNvPicPr>
          <p:nvPr/>
        </p:nvPicPr>
        <p:blipFill>
          <a:blip r:embed="rId6"/>
          <a:stretch>
            <a:fillRect/>
          </a:stretch>
        </p:blipFill>
        <p:spPr>
          <a:xfrm>
            <a:off x="3790188" y="4229100"/>
            <a:ext cx="320040" cy="320040"/>
          </a:xfrm>
          <a:prstGeom prst="rect">
            <a:avLst/>
          </a:prstGeom>
        </p:spPr>
      </p:pic>
      <p:sp>
        <p:nvSpPr>
          <p:cNvPr id="32" name="stack5-head"/>
          <p:cNvSpPr txBox="1"/>
          <p:nvPr/>
        </p:nvSpPr>
        <p:spPr>
          <a:xfrm>
            <a:off x="3630168" y="4800600"/>
            <a:ext cx="2103120" cy="365760"/>
          </a:xfrm>
          <a:prstGeom prst="rect">
            <a:avLst/>
          </a:prstGeom>
          <a:noFill/>
          <a:ln/>
        </p:spPr>
        <p:txBody>
          <a:bodyPr wrap="square" lIns="0" tIns="0" rIns="0" bIns="0" rtlCol="0" anchor="ctr"/>
          <a:lstStyle/>
          <a:p>
            <a:pPr indent="0" marL="0">
              <a:buNone/>
            </a:pPr>
            <a:r>
              <a:rPr lang="en-US" sz="1800" b="1" dirty="0">
                <a:solidFill>
                  <a:schemeClr val="tx1"/>
                </a:solidFill>
              </a:rPr>
              <a:t>Infrastructure</a:t>
            </a:r>
            <a:endParaRPr lang="en-US" sz="1800" dirty="0"/>
          </a:p>
        </p:txBody>
      </p:sp>
      <p:sp>
        <p:nvSpPr>
          <p:cNvPr id="33" name="stack5-sub"/>
          <p:cNvSpPr txBox="1"/>
          <p:nvPr/>
        </p:nvSpPr>
        <p:spPr>
          <a:xfrm>
            <a:off x="3630168" y="5166360"/>
            <a:ext cx="2148840" cy="548640"/>
          </a:xfrm>
          <a:prstGeom prst="rect">
            <a:avLst/>
          </a:prstGeom>
          <a:noFill/>
          <a:ln/>
        </p:spPr>
        <p:txBody>
          <a:bodyPr wrap="square" lIns="0" tIns="0" rIns="0" bIns="0" rtlCol="0" anchor="t"/>
          <a:lstStyle/>
          <a:p>
            <a:pPr indent="0" marL="0">
              <a:buNone/>
            </a:pPr>
            <a:r>
              <a:rPr lang="en-US" sz="1300" dirty="0">
                <a:solidFill>
                  <a:srgbClr val="64748B"/>
                </a:solidFill>
              </a:rPr>
              <a:t>Terraform · AWS VPC + EKS</a:t>
            </a:r>
            <a:endParaRPr lang="en-US" sz="1300" dirty="0"/>
          </a:p>
        </p:txBody>
      </p:sp>
      <p:sp>
        <p:nvSpPr>
          <p:cNvPr id="34" name="stack6"/>
          <p:cNvSpPr/>
          <p:nvPr/>
        </p:nvSpPr>
        <p:spPr>
          <a:xfrm>
            <a:off x="6163056" y="3794760"/>
            <a:ext cx="2578608" cy="2057400"/>
          </a:xfrm>
          <a:prstGeom prst="roundRect">
            <a:avLst>
              <a:gd name="adj" fmla="val 3556"/>
            </a:avLst>
          </a:prstGeom>
          <a:solidFill>
            <a:schemeClr val="bg2"/>
          </a:solidFill>
          <a:ln w="12700">
            <a:solidFill>
              <a:schemeClr val="bg2"/>
            </a:solidFill>
            <a:prstDash val="solid"/>
          </a:ln>
        </p:spPr>
      </p:sp>
      <p:sp>
        <p:nvSpPr>
          <p:cNvPr id="35" name="stack6-circle"/>
          <p:cNvSpPr/>
          <p:nvPr/>
        </p:nvSpPr>
        <p:spPr>
          <a:xfrm>
            <a:off x="6437376" y="4069080"/>
            <a:ext cx="640080" cy="640080"/>
          </a:xfrm>
          <a:prstGeom prst="ellipse">
            <a:avLst/>
          </a:prstGeom>
          <a:solidFill>
            <a:schemeClr val="tx2"/>
          </a:solidFill>
          <a:ln w="12700">
            <a:solidFill>
              <a:schemeClr val="tx2"/>
            </a:solidFill>
            <a:prstDash val="solid"/>
          </a:ln>
        </p:spPr>
      </p:sp>
      <p:pic>
        <p:nvPicPr>
          <p:cNvPr id="36" name="stack6-icon" descr="preencoded.png">    </p:cNvPr>
          <p:cNvPicPr>
            <a:picLocks noChangeAspect="1"/>
          </p:cNvPicPr>
          <p:nvPr/>
        </p:nvPicPr>
        <p:blipFill>
          <a:blip r:embed="rId7"/>
          <a:stretch>
            <a:fillRect/>
          </a:stretch>
        </p:blipFill>
        <p:spPr>
          <a:xfrm>
            <a:off x="6597396" y="4229100"/>
            <a:ext cx="320040" cy="320040"/>
          </a:xfrm>
          <a:prstGeom prst="rect">
            <a:avLst/>
          </a:prstGeom>
        </p:spPr>
      </p:pic>
      <p:sp>
        <p:nvSpPr>
          <p:cNvPr id="37" name="stack6-head"/>
          <p:cNvSpPr txBox="1"/>
          <p:nvPr/>
        </p:nvSpPr>
        <p:spPr>
          <a:xfrm>
            <a:off x="6437376" y="4800600"/>
            <a:ext cx="2103120" cy="365760"/>
          </a:xfrm>
          <a:prstGeom prst="rect">
            <a:avLst/>
          </a:prstGeom>
          <a:noFill/>
          <a:ln/>
        </p:spPr>
        <p:txBody>
          <a:bodyPr wrap="square" lIns="0" tIns="0" rIns="0" bIns="0" rtlCol="0" anchor="ctr"/>
          <a:lstStyle/>
          <a:p>
            <a:pPr indent="0" marL="0">
              <a:buNone/>
            </a:pPr>
            <a:r>
              <a:rPr lang="en-US" sz="1800" b="1" dirty="0">
                <a:solidFill>
                  <a:schemeClr val="tx1"/>
                </a:solidFill>
              </a:rPr>
              <a:t>Platform</a:t>
            </a:r>
            <a:endParaRPr lang="en-US" sz="1800" dirty="0"/>
          </a:p>
        </p:txBody>
      </p:sp>
      <p:sp>
        <p:nvSpPr>
          <p:cNvPr id="38" name="stack6-sub"/>
          <p:cNvSpPr txBox="1"/>
          <p:nvPr/>
        </p:nvSpPr>
        <p:spPr>
          <a:xfrm>
            <a:off x="6437376" y="5166360"/>
            <a:ext cx="2148840" cy="548640"/>
          </a:xfrm>
          <a:prstGeom prst="rect">
            <a:avLst/>
          </a:prstGeom>
          <a:noFill/>
          <a:ln/>
        </p:spPr>
        <p:txBody>
          <a:bodyPr wrap="square" lIns="0" tIns="0" rIns="0" bIns="0" rtlCol="0" anchor="t"/>
          <a:lstStyle/>
          <a:p>
            <a:pPr indent="0" marL="0">
              <a:buNone/>
            </a:pPr>
            <a:r>
              <a:rPr lang="en-US" sz="1300" dirty="0">
                <a:solidFill>
                  <a:srgbClr val="64748B"/>
                </a:solidFill>
              </a:rPr>
              <a:t>Kubernetes · Helm · Argo CD</a:t>
            </a:r>
            <a:endParaRPr lang="en-US" sz="1300" dirty="0"/>
          </a:p>
        </p:txBody>
      </p:sp>
      <p:sp>
        <p:nvSpPr>
          <p:cNvPr id="39" name="stack7"/>
          <p:cNvSpPr/>
          <p:nvPr/>
        </p:nvSpPr>
        <p:spPr>
          <a:xfrm>
            <a:off x="8970264" y="3794760"/>
            <a:ext cx="2578608" cy="2057400"/>
          </a:xfrm>
          <a:prstGeom prst="roundRect">
            <a:avLst>
              <a:gd name="adj" fmla="val 3556"/>
            </a:avLst>
          </a:prstGeom>
          <a:solidFill>
            <a:schemeClr val="bg2"/>
          </a:solidFill>
          <a:ln w="12700">
            <a:solidFill>
              <a:schemeClr val="bg2"/>
            </a:solidFill>
            <a:prstDash val="solid"/>
          </a:ln>
        </p:spPr>
      </p:sp>
      <p:sp>
        <p:nvSpPr>
          <p:cNvPr id="40" name="stack7-circle"/>
          <p:cNvSpPr/>
          <p:nvPr/>
        </p:nvSpPr>
        <p:spPr>
          <a:xfrm>
            <a:off x="9244584" y="4069080"/>
            <a:ext cx="640080" cy="640080"/>
          </a:xfrm>
          <a:prstGeom prst="ellipse">
            <a:avLst/>
          </a:prstGeom>
          <a:solidFill>
            <a:schemeClr val="tx2"/>
          </a:solidFill>
          <a:ln w="12700">
            <a:solidFill>
              <a:schemeClr val="tx2"/>
            </a:solidFill>
            <a:prstDash val="solid"/>
          </a:ln>
        </p:spPr>
      </p:sp>
      <p:pic>
        <p:nvPicPr>
          <p:cNvPr id="41" name="stack7-icon" descr="preencoded.png">    </p:cNvPr>
          <p:cNvPicPr>
            <a:picLocks noChangeAspect="1"/>
          </p:cNvPicPr>
          <p:nvPr/>
        </p:nvPicPr>
        <p:blipFill>
          <a:blip r:embed="rId8"/>
          <a:stretch>
            <a:fillRect/>
          </a:stretch>
        </p:blipFill>
        <p:spPr>
          <a:xfrm>
            <a:off x="9404604" y="4229100"/>
            <a:ext cx="320040" cy="320040"/>
          </a:xfrm>
          <a:prstGeom prst="rect">
            <a:avLst/>
          </a:prstGeom>
        </p:spPr>
      </p:pic>
      <p:sp>
        <p:nvSpPr>
          <p:cNvPr id="42" name="stack7-head"/>
          <p:cNvSpPr txBox="1"/>
          <p:nvPr/>
        </p:nvSpPr>
        <p:spPr>
          <a:xfrm>
            <a:off x="9244584" y="4800600"/>
            <a:ext cx="2103120" cy="365760"/>
          </a:xfrm>
          <a:prstGeom prst="rect">
            <a:avLst/>
          </a:prstGeom>
          <a:noFill/>
          <a:ln/>
        </p:spPr>
        <p:txBody>
          <a:bodyPr wrap="square" lIns="0" tIns="0" rIns="0" bIns="0" rtlCol="0" anchor="ctr"/>
          <a:lstStyle/>
          <a:p>
            <a:pPr indent="0" marL="0">
              <a:buNone/>
            </a:pPr>
            <a:r>
              <a:rPr lang="en-US" sz="1800" b="1" dirty="0">
                <a:solidFill>
                  <a:schemeClr val="tx1"/>
                </a:solidFill>
              </a:rPr>
              <a:t>Observability</a:t>
            </a:r>
            <a:endParaRPr lang="en-US" sz="1800" dirty="0"/>
          </a:p>
        </p:txBody>
      </p:sp>
      <p:sp>
        <p:nvSpPr>
          <p:cNvPr id="43" name="stack7-sub"/>
          <p:cNvSpPr txBox="1"/>
          <p:nvPr/>
        </p:nvSpPr>
        <p:spPr>
          <a:xfrm>
            <a:off x="9244584" y="5166360"/>
            <a:ext cx="2148840" cy="548640"/>
          </a:xfrm>
          <a:prstGeom prst="rect">
            <a:avLst/>
          </a:prstGeom>
          <a:noFill/>
          <a:ln/>
        </p:spPr>
        <p:txBody>
          <a:bodyPr wrap="square" lIns="0" tIns="0" rIns="0" bIns="0" rtlCol="0" anchor="t"/>
          <a:lstStyle/>
          <a:p>
            <a:pPr indent="0" marL="0">
              <a:buNone/>
            </a:pPr>
            <a:r>
              <a:rPr lang="en-US" sz="1300" dirty="0">
                <a:solidFill>
                  <a:srgbClr val="64748B"/>
                </a:solidFill>
              </a:rPr>
              <a:t>Prometheus · Grafana · alerts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Architecture</a:t>
            </a:r>
            <a:endParaRPr lang="en-US" sz="3400" dirty="0"/>
          </a:p>
        </p:txBody>
      </p:sp>
      <p:sp>
        <p:nvSpPr>
          <p:cNvPr id="4" name="a-dev"/>
          <p:cNvSpPr/>
          <p:nvPr/>
        </p:nvSpPr>
        <p:spPr>
          <a:xfrm>
            <a:off x="548640" y="1371600"/>
            <a:ext cx="1463040" cy="685800"/>
          </a:xfrm>
          <a:prstGeom prst="roundRect">
            <a:avLst>
              <a:gd name="adj" fmla="val 8000"/>
            </a:avLst>
          </a:prstGeom>
          <a:solidFill>
            <a:schemeClr val="bg1"/>
          </a:solidFill>
          <a:ln w="15875">
            <a:solidFill>
              <a:schemeClr val="accent1"/>
            </a:solidFill>
            <a:prstDash val="solid"/>
          </a:ln>
        </p:spPr>
      </p:sp>
      <p:sp>
        <p:nvSpPr>
          <p:cNvPr id="5" name="a-dev-text"/>
          <p:cNvSpPr txBox="1"/>
          <p:nvPr/>
        </p:nvSpPr>
        <p:spPr>
          <a:xfrm>
            <a:off x="548640" y="1371600"/>
            <a:ext cx="1463040" cy="685800"/>
          </a:xfrm>
          <a:prstGeom prst="rect">
            <a:avLst/>
          </a:prstGeom>
          <a:noFill/>
          <a:ln/>
        </p:spPr>
        <p:txBody>
          <a:bodyPr wrap="square" lIns="50800" tIns="50800" rIns="50800" bIns="50800" rtlCol="0" anchor="ctr"/>
          <a:lstStyle/>
          <a:p>
            <a:pPr algn="ctr" indent="0" marL="0">
              <a:buNone/>
            </a:pPr>
            <a:r>
              <a:rPr lang="en-US" sz="1300" b="1" dirty="0">
                <a:solidFill>
                  <a:schemeClr val="tx1"/>
                </a:solidFill>
              </a:rPr>
              <a:t>Developer</a:t>
            </a:r>
            <a:endParaRPr lang="en-US" sz="1300" dirty="0"/>
          </a:p>
        </p:txBody>
      </p:sp>
      <p:sp>
        <p:nvSpPr>
          <p:cNvPr id="6" name="a-gh"/>
          <p:cNvSpPr/>
          <p:nvPr/>
        </p:nvSpPr>
        <p:spPr>
          <a:xfrm>
            <a:off x="2514600" y="1371600"/>
            <a:ext cx="1737360" cy="685800"/>
          </a:xfrm>
          <a:prstGeom prst="roundRect">
            <a:avLst>
              <a:gd name="adj" fmla="val 8000"/>
            </a:avLst>
          </a:prstGeom>
          <a:solidFill>
            <a:schemeClr val="bg1"/>
          </a:solidFill>
          <a:ln w="15875">
            <a:solidFill>
              <a:schemeClr val="accent1"/>
            </a:solidFill>
            <a:prstDash val="solid"/>
          </a:ln>
        </p:spPr>
      </p:sp>
      <p:sp>
        <p:nvSpPr>
          <p:cNvPr id="7" name="a-gh-text"/>
          <p:cNvSpPr txBox="1"/>
          <p:nvPr/>
        </p:nvSpPr>
        <p:spPr>
          <a:xfrm>
            <a:off x="2514600" y="1371600"/>
            <a:ext cx="1737360" cy="685800"/>
          </a:xfrm>
          <a:prstGeom prst="rect">
            <a:avLst/>
          </a:prstGeom>
          <a:noFill/>
          <a:ln/>
        </p:spPr>
        <p:txBody>
          <a:bodyPr wrap="square" lIns="50800" tIns="50800" rIns="50800" bIns="50800" rtlCol="0" anchor="ctr"/>
          <a:lstStyle/>
          <a:p>
            <a:pPr algn="ctr" indent="0" marL="0">
              <a:buNone/>
            </a:pPr>
            <a:r>
              <a:rPr lang="en-US" sz="1300" b="1" dirty="0">
                <a:solidFill>
                  <a:schemeClr val="tx1"/>
                </a:solidFill>
              </a:rPr>
              <a:t>GitHub repo</a:t>
            </a:r>
            <a:endParaRPr lang="en-US" sz="1300" dirty="0"/>
          </a:p>
        </p:txBody>
      </p:sp>
      <p:sp>
        <p:nvSpPr>
          <p:cNvPr id="8" name="a-ci"/>
          <p:cNvSpPr/>
          <p:nvPr/>
        </p:nvSpPr>
        <p:spPr>
          <a:xfrm>
            <a:off x="4754880" y="1371600"/>
            <a:ext cx="3383280" cy="685800"/>
          </a:xfrm>
          <a:prstGeom prst="roundRect">
            <a:avLst>
              <a:gd name="adj" fmla="val 8000"/>
            </a:avLst>
          </a:prstGeom>
          <a:solidFill>
            <a:srgbClr val="ECFDF5"/>
          </a:solidFill>
          <a:ln w="15875">
            <a:solidFill>
              <a:schemeClr val="accent1"/>
            </a:solidFill>
            <a:prstDash val="solid"/>
          </a:ln>
        </p:spPr>
      </p:sp>
      <p:sp>
        <p:nvSpPr>
          <p:cNvPr id="9" name="a-ci-text"/>
          <p:cNvSpPr txBox="1"/>
          <p:nvPr/>
        </p:nvSpPr>
        <p:spPr>
          <a:xfrm>
            <a:off x="4754880" y="1371600"/>
            <a:ext cx="3383280" cy="685800"/>
          </a:xfrm>
          <a:prstGeom prst="rect">
            <a:avLst/>
          </a:prstGeom>
          <a:noFill/>
          <a:ln/>
        </p:spPr>
        <p:txBody>
          <a:bodyPr wrap="square" lIns="50800" tIns="50800" rIns="50800" bIns="50800" rtlCol="0" anchor="ctr"/>
          <a:lstStyle/>
          <a:p>
            <a:pPr algn="ctr" indent="0" marL="0">
              <a:buNone/>
            </a:pPr>
            <a:r>
              <a:rPr lang="en-US" sz="1200" dirty="0">
                <a:solidFill>
                  <a:schemeClr val="tx1"/>
                </a:solidFill>
              </a:rPr>
              <a:t>GitHub Actions</a:t>
            </a:r>
            <a:endParaRPr lang="en-US" sz="1200" dirty="0"/>
          </a:p>
          <a:p>
            <a:pPr algn="ctr" indent="0" marL="0">
              <a:buNone/>
            </a:pPr>
            <a:r>
              <a:rPr lang="en-US" sz="1200" dirty="0">
                <a:solidFill>
                  <a:schemeClr val="tx1"/>
                </a:solidFill>
              </a:rPr>
              <a:t>test · scan · build · push · deploy · promote</a:t>
            </a:r>
            <a:endParaRPr lang="en-US" sz="1200" dirty="0"/>
          </a:p>
        </p:txBody>
      </p:sp>
      <p:sp>
        <p:nvSpPr>
          <p:cNvPr id="10" name="a-ghcr"/>
          <p:cNvSpPr/>
          <p:nvPr/>
        </p:nvSpPr>
        <p:spPr>
          <a:xfrm>
            <a:off x="8641080" y="1371600"/>
            <a:ext cx="1737360" cy="685800"/>
          </a:xfrm>
          <a:prstGeom prst="roundRect">
            <a:avLst>
              <a:gd name="adj" fmla="val 8000"/>
            </a:avLst>
          </a:prstGeom>
          <a:solidFill>
            <a:schemeClr val="bg1"/>
          </a:solidFill>
          <a:ln w="15875">
            <a:solidFill>
              <a:schemeClr val="accent1"/>
            </a:solidFill>
            <a:prstDash val="solid"/>
          </a:ln>
        </p:spPr>
      </p:sp>
      <p:sp>
        <p:nvSpPr>
          <p:cNvPr id="11" name="a-ghcr-text"/>
          <p:cNvSpPr txBox="1"/>
          <p:nvPr/>
        </p:nvSpPr>
        <p:spPr>
          <a:xfrm>
            <a:off x="8641080" y="1371600"/>
            <a:ext cx="1737360" cy="685800"/>
          </a:xfrm>
          <a:prstGeom prst="rect">
            <a:avLst/>
          </a:prstGeom>
          <a:noFill/>
          <a:ln/>
        </p:spPr>
        <p:txBody>
          <a:bodyPr wrap="square" lIns="50800" tIns="50800" rIns="50800" bIns="50800" rtlCol="0" anchor="ctr"/>
          <a:lstStyle/>
          <a:p>
            <a:pPr algn="ctr" indent="0" marL="0">
              <a:buNone/>
            </a:pPr>
            <a:r>
              <a:rPr lang="en-US" sz="1200" dirty="0">
                <a:solidFill>
                  <a:schemeClr val="tx1"/>
                </a:solidFill>
              </a:rPr>
              <a:t>GHCR</a:t>
            </a:r>
            <a:endParaRPr lang="en-US" sz="1200" dirty="0"/>
          </a:p>
          <a:p>
            <a:pPr algn="ctr" indent="0" marL="0">
              <a:buNone/>
            </a:pPr>
            <a:r>
              <a:rPr lang="en-US" sz="1200" dirty="0">
                <a:solidFill>
                  <a:schemeClr val="tx1"/>
                </a:solidFill>
              </a:rPr>
              <a:t>clinicflow-*:&lt;sha&gt;</a:t>
            </a:r>
            <a:endParaRPr lang="en-US" sz="1200" dirty="0"/>
          </a:p>
        </p:txBody>
      </p:sp>
      <p:sp>
        <p:nvSpPr>
          <p:cNvPr id="12" name="ar1"/>
          <p:cNvSpPr/>
          <p:nvPr/>
        </p:nvSpPr>
        <p:spPr>
          <a:xfrm>
            <a:off x="2011680" y="1714500"/>
            <a:ext cx="502920" cy="914"/>
          </a:xfrm>
          <a:prstGeom prst="line">
            <a:avLst/>
          </a:prstGeom>
          <a:noFill/>
          <a:ln w="19050">
            <a:solidFill>
              <a:srgbClr val="475569"/>
            </a:solidFill>
            <a:prstDash val="solid"/>
            <a:tailEnd type="triangle"/>
          </a:ln>
        </p:spPr>
      </p:sp>
      <p:sp>
        <p:nvSpPr>
          <p:cNvPr id="13" name="ar2"/>
          <p:cNvSpPr/>
          <p:nvPr/>
        </p:nvSpPr>
        <p:spPr>
          <a:xfrm>
            <a:off x="4251960" y="1714500"/>
            <a:ext cx="502920" cy="914"/>
          </a:xfrm>
          <a:prstGeom prst="line">
            <a:avLst/>
          </a:prstGeom>
          <a:noFill/>
          <a:ln w="19050">
            <a:solidFill>
              <a:srgbClr val="475569"/>
            </a:solidFill>
            <a:prstDash val="solid"/>
            <a:tailEnd type="triangle"/>
          </a:ln>
        </p:spPr>
      </p:sp>
      <p:sp>
        <p:nvSpPr>
          <p:cNvPr id="14" name="ar3"/>
          <p:cNvSpPr/>
          <p:nvPr/>
        </p:nvSpPr>
        <p:spPr>
          <a:xfrm>
            <a:off x="8138160" y="1714500"/>
            <a:ext cx="502920" cy="914"/>
          </a:xfrm>
          <a:prstGeom prst="line">
            <a:avLst/>
          </a:prstGeom>
          <a:noFill/>
          <a:ln w="19050">
            <a:solidFill>
              <a:srgbClr val="475569"/>
            </a:solidFill>
            <a:prstDash val="solid"/>
            <a:tailEnd type="triangle"/>
          </a:ln>
        </p:spPr>
      </p:sp>
      <p:sp>
        <p:nvSpPr>
          <p:cNvPr id="15" name="ar-promote"/>
          <p:cNvSpPr/>
          <p:nvPr/>
        </p:nvSpPr>
        <p:spPr>
          <a:xfrm flipH="1">
            <a:off x="3840480" y="2057400"/>
            <a:ext cx="2011680" cy="914"/>
          </a:xfrm>
          <a:prstGeom prst="line">
            <a:avLst/>
          </a:prstGeom>
          <a:noFill/>
          <a:ln w="19050">
            <a:solidFill>
              <a:schemeClr val="accent1"/>
            </a:solidFill>
            <a:prstDash val="dash"/>
            <a:tailEnd type="triangle"/>
          </a:ln>
        </p:spPr>
      </p:sp>
      <p:sp>
        <p:nvSpPr>
          <p:cNvPr id="16" name="ar-promote-label"/>
          <p:cNvSpPr txBox="1"/>
          <p:nvPr/>
        </p:nvSpPr>
        <p:spPr>
          <a:xfrm>
            <a:off x="3886200" y="2103120"/>
            <a:ext cx="2377440" cy="256032"/>
          </a:xfrm>
          <a:prstGeom prst="rect">
            <a:avLst/>
          </a:prstGeom>
          <a:noFill/>
          <a:ln/>
        </p:spPr>
        <p:txBody>
          <a:bodyPr wrap="square" lIns="0" tIns="0" rIns="0" bIns="0" rtlCol="0" anchor="ctr"/>
          <a:lstStyle/>
          <a:p>
            <a:pPr algn="ctr" indent="0" marL="0">
              <a:buNone/>
            </a:pPr>
            <a:r>
              <a:rPr lang="en-US" sz="1050" i="1" dirty="0">
                <a:solidFill>
                  <a:srgbClr val="64748B"/>
                </a:solidFill>
              </a:rPr>
              <a:t>promote: commit SHA to gitops/</a:t>
            </a:r>
            <a:endParaRPr lang="en-US" sz="1050" dirty="0"/>
          </a:p>
        </p:txBody>
      </p:sp>
      <p:sp>
        <p:nvSpPr>
          <p:cNvPr id="17" name="a-cluster"/>
          <p:cNvSpPr/>
          <p:nvPr/>
        </p:nvSpPr>
        <p:spPr>
          <a:xfrm>
            <a:off x="2514600" y="2788920"/>
            <a:ext cx="6766560" cy="3337560"/>
          </a:xfrm>
          <a:prstGeom prst="roundRect">
            <a:avLst>
              <a:gd name="adj" fmla="val 1644"/>
            </a:avLst>
          </a:prstGeom>
          <a:solidFill>
            <a:schemeClr val="bg2"/>
          </a:solidFill>
          <a:ln w="12700">
            <a:solidFill>
              <a:srgbClr val="CBD5E1"/>
            </a:solidFill>
            <a:prstDash val="solid"/>
          </a:ln>
        </p:spPr>
      </p:sp>
      <p:sp>
        <p:nvSpPr>
          <p:cNvPr id="18" name="a-cluster-label"/>
          <p:cNvSpPr txBox="1"/>
          <p:nvPr/>
        </p:nvSpPr>
        <p:spPr>
          <a:xfrm>
            <a:off x="2697480" y="2834640"/>
            <a:ext cx="3200400" cy="320040"/>
          </a:xfrm>
          <a:prstGeom prst="rect">
            <a:avLst/>
          </a:prstGeom>
          <a:noFill/>
          <a:ln/>
        </p:spPr>
        <p:txBody>
          <a:bodyPr wrap="square" lIns="0" tIns="0" rIns="0" bIns="0" rtlCol="0" anchor="ctr"/>
          <a:lstStyle/>
          <a:p>
            <a:pPr indent="0" marL="0">
              <a:buNone/>
            </a:pPr>
            <a:r>
              <a:rPr lang="en-US" sz="1200" b="1" dirty="0">
                <a:solidFill>
                  <a:srgbClr val="64748B"/>
                </a:solidFill>
              </a:rPr>
              <a:t>Kubernetes (kind, 3 nodes)</a:t>
            </a:r>
            <a:endParaRPr lang="en-US" sz="1200" dirty="0"/>
          </a:p>
        </p:txBody>
      </p:sp>
      <p:sp>
        <p:nvSpPr>
          <p:cNvPr id="19" name="a-argo"/>
          <p:cNvSpPr/>
          <p:nvPr/>
        </p:nvSpPr>
        <p:spPr>
          <a:xfrm>
            <a:off x="2743200" y="3200400"/>
            <a:ext cx="1554480" cy="548640"/>
          </a:xfrm>
          <a:prstGeom prst="roundRect">
            <a:avLst>
              <a:gd name="adj" fmla="val 10000"/>
            </a:avLst>
          </a:prstGeom>
          <a:solidFill>
            <a:srgbClr val="FFF7ED"/>
          </a:solidFill>
          <a:ln w="15875">
            <a:solidFill>
              <a:schemeClr val="accent3"/>
            </a:solidFill>
            <a:prstDash val="solid"/>
          </a:ln>
        </p:spPr>
      </p:sp>
      <p:sp>
        <p:nvSpPr>
          <p:cNvPr id="20" name="a-argo-text"/>
          <p:cNvSpPr txBox="1"/>
          <p:nvPr/>
        </p:nvSpPr>
        <p:spPr>
          <a:xfrm>
            <a:off x="2743200" y="3200400"/>
            <a:ext cx="1554480" cy="548640"/>
          </a:xfrm>
          <a:prstGeom prst="rect">
            <a:avLst/>
          </a:prstGeom>
          <a:noFill/>
          <a:ln/>
        </p:spPr>
        <p:txBody>
          <a:bodyPr wrap="square" lIns="50800" tIns="50800" rIns="50800" bIns="50800" rtlCol="0" anchor="ctr"/>
          <a:lstStyle/>
          <a:p>
            <a:pPr algn="ctr" indent="0" marL="0">
              <a:buNone/>
            </a:pPr>
            <a:r>
              <a:rPr lang="en-US" sz="1300" b="1" dirty="0">
                <a:solidFill>
                  <a:schemeClr val="tx1"/>
                </a:solidFill>
              </a:rPr>
              <a:t>Argo CD</a:t>
            </a:r>
            <a:endParaRPr lang="en-US" sz="1300" dirty="0"/>
          </a:p>
        </p:txBody>
      </p:sp>
      <p:sp>
        <p:nvSpPr>
          <p:cNvPr id="21" name="a-prom"/>
          <p:cNvSpPr/>
          <p:nvPr/>
        </p:nvSpPr>
        <p:spPr>
          <a:xfrm>
            <a:off x="7223760" y="3200400"/>
            <a:ext cx="1828800" cy="548640"/>
          </a:xfrm>
          <a:prstGeom prst="roundRect">
            <a:avLst>
              <a:gd name="adj" fmla="val 10000"/>
            </a:avLst>
          </a:prstGeom>
          <a:solidFill>
            <a:srgbClr val="FFF7ED"/>
          </a:solidFill>
          <a:ln w="15875">
            <a:solidFill>
              <a:schemeClr val="accent3"/>
            </a:solidFill>
            <a:prstDash val="solid"/>
          </a:ln>
        </p:spPr>
      </p:sp>
      <p:sp>
        <p:nvSpPr>
          <p:cNvPr id="22" name="a-prom-text"/>
          <p:cNvSpPr txBox="1"/>
          <p:nvPr/>
        </p:nvSpPr>
        <p:spPr>
          <a:xfrm>
            <a:off x="7223760" y="3200400"/>
            <a:ext cx="1828800" cy="548640"/>
          </a:xfrm>
          <a:prstGeom prst="rect">
            <a:avLst/>
          </a:prstGeom>
          <a:noFill/>
          <a:ln/>
        </p:spPr>
        <p:txBody>
          <a:bodyPr wrap="square" lIns="50800" tIns="50800" rIns="50800" bIns="50800" rtlCol="0" anchor="ctr"/>
          <a:lstStyle/>
          <a:p>
            <a:pPr algn="ctr" indent="0" marL="0">
              <a:buNone/>
            </a:pPr>
            <a:r>
              <a:rPr lang="en-US" sz="1200" dirty="0">
                <a:solidFill>
                  <a:schemeClr val="tx1"/>
                </a:solidFill>
              </a:rPr>
              <a:t>Prometheus · Grafana</a:t>
            </a:r>
            <a:endParaRPr lang="en-US" sz="1200" dirty="0"/>
          </a:p>
        </p:txBody>
      </p:sp>
      <p:sp>
        <p:nvSpPr>
          <p:cNvPr id="23" name="ar-poll"/>
          <p:cNvSpPr/>
          <p:nvPr/>
        </p:nvSpPr>
        <p:spPr>
          <a:xfrm>
            <a:off x="3383280" y="2057400"/>
            <a:ext cx="914" cy="1143000"/>
          </a:xfrm>
          <a:prstGeom prst="line">
            <a:avLst/>
          </a:prstGeom>
          <a:noFill/>
          <a:ln w="19050">
            <a:solidFill>
              <a:srgbClr val="475569"/>
            </a:solidFill>
            <a:prstDash val="solid"/>
            <a:tailEnd type="triangle"/>
          </a:ln>
        </p:spPr>
      </p:sp>
      <p:sp>
        <p:nvSpPr>
          <p:cNvPr id="24" name="ar-poll-label"/>
          <p:cNvSpPr txBox="1"/>
          <p:nvPr/>
        </p:nvSpPr>
        <p:spPr>
          <a:xfrm>
            <a:off x="2011680" y="2514600"/>
            <a:ext cx="1325880" cy="256032"/>
          </a:xfrm>
          <a:prstGeom prst="rect">
            <a:avLst/>
          </a:prstGeom>
          <a:noFill/>
          <a:ln/>
        </p:spPr>
        <p:txBody>
          <a:bodyPr wrap="square" lIns="0" tIns="0" rIns="0" bIns="0" rtlCol="0" anchor="ctr"/>
          <a:lstStyle/>
          <a:p>
            <a:pPr algn="r" indent="0" marL="0">
              <a:buNone/>
            </a:pPr>
            <a:r>
              <a:rPr lang="en-US" sz="1050" i="1" dirty="0">
                <a:solidFill>
                  <a:srgbClr val="64748B"/>
                </a:solidFill>
              </a:rPr>
              <a:t>polls main</a:t>
            </a:r>
            <a:endParaRPr lang="en-US" sz="1050" dirty="0"/>
          </a:p>
        </p:txBody>
      </p:sp>
      <p:sp>
        <p:nvSpPr>
          <p:cNvPr id="25" name="a-ns"/>
          <p:cNvSpPr/>
          <p:nvPr/>
        </p:nvSpPr>
        <p:spPr>
          <a:xfrm>
            <a:off x="2697480" y="3977640"/>
            <a:ext cx="6400800" cy="1965960"/>
          </a:xfrm>
          <a:prstGeom prst="roundRect">
            <a:avLst>
              <a:gd name="adj" fmla="val 2326"/>
            </a:avLst>
          </a:prstGeom>
          <a:solidFill>
            <a:schemeClr val="bg1"/>
          </a:solidFill>
          <a:ln w="12700">
            <a:solidFill>
              <a:srgbClr val="94A3B8"/>
            </a:solidFill>
            <a:prstDash val="dash"/>
          </a:ln>
        </p:spPr>
      </p:sp>
      <p:sp>
        <p:nvSpPr>
          <p:cNvPr id="26" name="a-ns-label"/>
          <p:cNvSpPr txBox="1"/>
          <p:nvPr/>
        </p:nvSpPr>
        <p:spPr>
          <a:xfrm>
            <a:off x="2834640" y="4005072"/>
            <a:ext cx="2286000" cy="274320"/>
          </a:xfrm>
          <a:prstGeom prst="rect">
            <a:avLst/>
          </a:prstGeom>
          <a:noFill/>
          <a:ln/>
        </p:spPr>
        <p:txBody>
          <a:bodyPr wrap="square" lIns="0" tIns="0" rIns="0" bIns="0" rtlCol="0" anchor="ctr"/>
          <a:lstStyle/>
          <a:p>
            <a:pPr indent="0" marL="0">
              <a:buNone/>
            </a:pPr>
            <a:r>
              <a:rPr lang="en-US" sz="1050" i="1" dirty="0">
                <a:solidFill>
                  <a:srgbClr val="64748B"/>
                </a:solidFill>
              </a:rPr>
              <a:t>namespace clinicflow</a:t>
            </a:r>
            <a:endParaRPr lang="en-US" sz="1050" dirty="0"/>
          </a:p>
        </p:txBody>
      </p:sp>
      <p:sp>
        <p:nvSpPr>
          <p:cNvPr id="27" name="a-ing"/>
          <p:cNvSpPr/>
          <p:nvPr/>
        </p:nvSpPr>
        <p:spPr>
          <a:xfrm>
            <a:off x="2880360" y="4663440"/>
            <a:ext cx="1600200" cy="731520"/>
          </a:xfrm>
          <a:prstGeom prst="roundRect">
            <a:avLst>
              <a:gd name="adj" fmla="val 7500"/>
            </a:avLst>
          </a:prstGeom>
          <a:solidFill>
            <a:schemeClr val="bg1"/>
          </a:solidFill>
          <a:ln w="15875">
            <a:solidFill>
              <a:schemeClr val="accent1"/>
            </a:solidFill>
            <a:prstDash val="solid"/>
          </a:ln>
        </p:spPr>
      </p:sp>
      <p:sp>
        <p:nvSpPr>
          <p:cNvPr id="28" name="a-ing-text"/>
          <p:cNvSpPr txBox="1"/>
          <p:nvPr/>
        </p:nvSpPr>
        <p:spPr>
          <a:xfrm>
            <a:off x="2880360" y="4663440"/>
            <a:ext cx="1600200" cy="731520"/>
          </a:xfrm>
          <a:prstGeom prst="rect">
            <a:avLst/>
          </a:prstGeom>
          <a:noFill/>
          <a:ln/>
        </p:spPr>
        <p:txBody>
          <a:bodyPr wrap="square" lIns="50800" tIns="50800" rIns="50800" bIns="50800" rtlCol="0" anchor="ctr"/>
          <a:lstStyle/>
          <a:p>
            <a:pPr algn="ctr" indent="0" marL="0">
              <a:buNone/>
            </a:pPr>
            <a:r>
              <a:rPr lang="en-US" sz="1200" dirty="0">
                <a:solidFill>
                  <a:schemeClr val="tx1"/>
                </a:solidFill>
              </a:rPr>
              <a:t>Ingress</a:t>
            </a:r>
            <a:endParaRPr lang="en-US" sz="1200" dirty="0"/>
          </a:p>
          <a:p>
            <a:pPr algn="ctr" indent="0" marL="0">
              <a:buNone/>
            </a:pPr>
            <a:r>
              <a:rPr lang="en-US" sz="1200" dirty="0">
                <a:solidFill>
                  <a:schemeClr val="tx1"/>
                </a:solidFill>
              </a:rPr>
              <a:t>clinicflow.local</a:t>
            </a:r>
            <a:endParaRPr lang="en-US" sz="1200" dirty="0"/>
          </a:p>
        </p:txBody>
      </p:sp>
      <p:sp>
        <p:nvSpPr>
          <p:cNvPr id="29" name="a-fe"/>
          <p:cNvSpPr/>
          <p:nvPr/>
        </p:nvSpPr>
        <p:spPr>
          <a:xfrm>
            <a:off x="4937760" y="4343400"/>
            <a:ext cx="1737360" cy="594360"/>
          </a:xfrm>
          <a:prstGeom prst="roundRect">
            <a:avLst>
              <a:gd name="adj" fmla="val 9231"/>
            </a:avLst>
          </a:prstGeom>
          <a:solidFill>
            <a:schemeClr val="bg1"/>
          </a:solidFill>
          <a:ln w="15875">
            <a:solidFill>
              <a:schemeClr val="accent1"/>
            </a:solidFill>
            <a:prstDash val="solid"/>
          </a:ln>
        </p:spPr>
      </p:sp>
      <p:sp>
        <p:nvSpPr>
          <p:cNvPr id="30" name="a-fe-text"/>
          <p:cNvSpPr txBox="1"/>
          <p:nvPr/>
        </p:nvSpPr>
        <p:spPr>
          <a:xfrm>
            <a:off x="4937760" y="4343400"/>
            <a:ext cx="1737360" cy="594360"/>
          </a:xfrm>
          <a:prstGeom prst="rect">
            <a:avLst/>
          </a:prstGeom>
          <a:noFill/>
          <a:ln/>
        </p:spPr>
        <p:txBody>
          <a:bodyPr wrap="square" lIns="50800" tIns="50800" rIns="50800" bIns="50800" rtlCol="0" anchor="ctr"/>
          <a:lstStyle/>
          <a:p>
            <a:pPr algn="ctr" indent="0" marL="0">
              <a:buNone/>
            </a:pPr>
            <a:r>
              <a:rPr lang="en-US" sz="1200" dirty="0">
                <a:solidFill>
                  <a:schemeClr val="tx1"/>
                </a:solidFill>
              </a:rPr>
              <a:t>frontend ×2</a:t>
            </a:r>
            <a:endParaRPr lang="en-US" sz="1200" dirty="0"/>
          </a:p>
          <a:p>
            <a:pPr algn="ctr" indent="0" marL="0">
              <a:buNone/>
            </a:pPr>
            <a:r>
              <a:rPr lang="en-US" sz="1200" dirty="0">
                <a:solidFill>
                  <a:schemeClr val="tx1"/>
                </a:solidFill>
              </a:rPr>
              <a:t>nginx · UID 101</a:t>
            </a:r>
            <a:endParaRPr lang="en-US" sz="1200" dirty="0"/>
          </a:p>
        </p:txBody>
      </p:sp>
      <p:sp>
        <p:nvSpPr>
          <p:cNvPr id="31" name="a-be"/>
          <p:cNvSpPr/>
          <p:nvPr/>
        </p:nvSpPr>
        <p:spPr>
          <a:xfrm>
            <a:off x="4937760" y="5166360"/>
            <a:ext cx="1737360" cy="594360"/>
          </a:xfrm>
          <a:prstGeom prst="roundRect">
            <a:avLst>
              <a:gd name="adj" fmla="val 9231"/>
            </a:avLst>
          </a:prstGeom>
          <a:solidFill>
            <a:schemeClr val="bg1"/>
          </a:solidFill>
          <a:ln w="15875">
            <a:solidFill>
              <a:schemeClr val="accent1"/>
            </a:solidFill>
            <a:prstDash val="solid"/>
          </a:ln>
        </p:spPr>
      </p:sp>
      <p:sp>
        <p:nvSpPr>
          <p:cNvPr id="32" name="a-be-text"/>
          <p:cNvSpPr txBox="1"/>
          <p:nvPr/>
        </p:nvSpPr>
        <p:spPr>
          <a:xfrm>
            <a:off x="4937760" y="5166360"/>
            <a:ext cx="1737360" cy="594360"/>
          </a:xfrm>
          <a:prstGeom prst="rect">
            <a:avLst/>
          </a:prstGeom>
          <a:noFill/>
          <a:ln/>
        </p:spPr>
        <p:txBody>
          <a:bodyPr wrap="square" lIns="50800" tIns="50800" rIns="50800" bIns="50800" rtlCol="0" anchor="ctr"/>
          <a:lstStyle/>
          <a:p>
            <a:pPr algn="ctr" indent="0" marL="0">
              <a:buNone/>
            </a:pPr>
            <a:r>
              <a:rPr lang="en-US" sz="1200" dirty="0">
                <a:solidFill>
                  <a:schemeClr val="tx1"/>
                </a:solidFill>
              </a:rPr>
              <a:t>backend ×2–6</a:t>
            </a:r>
            <a:endParaRPr lang="en-US" sz="1200" dirty="0"/>
          </a:p>
          <a:p>
            <a:pPr algn="ctr" indent="0" marL="0">
              <a:buNone/>
            </a:pPr>
            <a:r>
              <a:rPr lang="en-US" sz="1200" dirty="0">
                <a:solidFill>
                  <a:schemeClr val="tx1"/>
                </a:solidFill>
              </a:rPr>
              <a:t>FastAPI · HPA</a:t>
            </a:r>
            <a:endParaRPr lang="en-US" sz="1200" dirty="0"/>
          </a:p>
        </p:txBody>
      </p:sp>
      <p:sp>
        <p:nvSpPr>
          <p:cNvPr id="33" name="a-pg"/>
          <p:cNvSpPr/>
          <p:nvPr/>
        </p:nvSpPr>
        <p:spPr>
          <a:xfrm>
            <a:off x="7132320" y="5166360"/>
            <a:ext cx="1783080" cy="594360"/>
          </a:xfrm>
          <a:prstGeom prst="roundRect">
            <a:avLst>
              <a:gd name="adj" fmla="val 9231"/>
            </a:avLst>
          </a:prstGeom>
          <a:solidFill>
            <a:schemeClr val="bg1"/>
          </a:solidFill>
          <a:ln w="15875">
            <a:solidFill>
              <a:schemeClr val="accent1"/>
            </a:solidFill>
            <a:prstDash val="solid"/>
          </a:ln>
        </p:spPr>
      </p:sp>
      <p:sp>
        <p:nvSpPr>
          <p:cNvPr id="34" name="a-pg-text"/>
          <p:cNvSpPr txBox="1"/>
          <p:nvPr/>
        </p:nvSpPr>
        <p:spPr>
          <a:xfrm>
            <a:off x="7132320" y="5166360"/>
            <a:ext cx="1783080" cy="594360"/>
          </a:xfrm>
          <a:prstGeom prst="rect">
            <a:avLst/>
          </a:prstGeom>
          <a:noFill/>
          <a:ln/>
        </p:spPr>
        <p:txBody>
          <a:bodyPr wrap="square" lIns="50800" tIns="50800" rIns="50800" bIns="50800" rtlCol="0" anchor="ctr"/>
          <a:lstStyle/>
          <a:p>
            <a:pPr algn="ctr" indent="0" marL="0">
              <a:buNone/>
            </a:pPr>
            <a:r>
              <a:rPr lang="en-US" sz="1200" dirty="0">
                <a:solidFill>
                  <a:schemeClr val="tx1"/>
                </a:solidFill>
              </a:rPr>
              <a:t>PostgreSQL</a:t>
            </a:r>
            <a:endParaRPr lang="en-US" sz="1200" dirty="0"/>
          </a:p>
          <a:p>
            <a:pPr algn="ctr" indent="0" marL="0">
              <a:buNone/>
            </a:pPr>
            <a:r>
              <a:rPr lang="en-US" sz="1200" dirty="0">
                <a:solidFill>
                  <a:schemeClr val="tx1"/>
                </a:solidFill>
              </a:rPr>
              <a:t>StatefulSet + PVC</a:t>
            </a:r>
            <a:endParaRPr lang="en-US" sz="1200" dirty="0"/>
          </a:p>
        </p:txBody>
      </p:sp>
      <p:sp>
        <p:nvSpPr>
          <p:cNvPr id="35" name="ar-ing-fe"/>
          <p:cNvSpPr/>
          <p:nvPr/>
        </p:nvSpPr>
        <p:spPr>
          <a:xfrm flipV="1">
            <a:off x="4480560" y="4645152"/>
            <a:ext cx="457200" cy="201168"/>
          </a:xfrm>
          <a:prstGeom prst="line">
            <a:avLst/>
          </a:prstGeom>
          <a:noFill/>
          <a:ln w="19050">
            <a:solidFill>
              <a:srgbClr val="475569"/>
            </a:solidFill>
            <a:prstDash val="solid"/>
            <a:tailEnd type="triangle"/>
          </a:ln>
        </p:spPr>
      </p:sp>
      <p:sp>
        <p:nvSpPr>
          <p:cNvPr id="36" name="ar-ing-be"/>
          <p:cNvSpPr/>
          <p:nvPr/>
        </p:nvSpPr>
        <p:spPr>
          <a:xfrm>
            <a:off x="4480560" y="5212080"/>
            <a:ext cx="457200" cy="246888"/>
          </a:xfrm>
          <a:prstGeom prst="line">
            <a:avLst/>
          </a:prstGeom>
          <a:noFill/>
          <a:ln w="19050">
            <a:solidFill>
              <a:srgbClr val="475569"/>
            </a:solidFill>
            <a:prstDash val="solid"/>
            <a:tailEnd type="triangle"/>
          </a:ln>
        </p:spPr>
      </p:sp>
      <p:sp>
        <p:nvSpPr>
          <p:cNvPr id="37" name="ar-be-pg"/>
          <p:cNvSpPr/>
          <p:nvPr/>
        </p:nvSpPr>
        <p:spPr>
          <a:xfrm>
            <a:off x="6675120" y="5463540"/>
            <a:ext cx="457200" cy="914"/>
          </a:xfrm>
          <a:prstGeom prst="line">
            <a:avLst/>
          </a:prstGeom>
          <a:noFill/>
          <a:ln w="19050">
            <a:solidFill>
              <a:srgbClr val="475569"/>
            </a:solidFill>
            <a:prstDash val="solid"/>
            <a:tailEnd type="triangle"/>
          </a:ln>
        </p:spPr>
      </p:sp>
      <p:sp>
        <p:nvSpPr>
          <p:cNvPr id="38" name="ar-scrape"/>
          <p:cNvSpPr/>
          <p:nvPr/>
        </p:nvSpPr>
        <p:spPr>
          <a:xfrm flipH="1">
            <a:off x="6400800" y="3749040"/>
            <a:ext cx="1737360" cy="1417320"/>
          </a:xfrm>
          <a:prstGeom prst="line">
            <a:avLst/>
          </a:prstGeom>
          <a:noFill/>
          <a:ln w="19050">
            <a:solidFill>
              <a:schemeClr val="accent3"/>
            </a:solidFill>
            <a:prstDash val="dash"/>
            <a:tailEnd type="triangle"/>
          </a:ln>
        </p:spPr>
      </p:sp>
      <p:sp>
        <p:nvSpPr>
          <p:cNvPr id="39" name="ar-argo-ns"/>
          <p:cNvSpPr/>
          <p:nvPr/>
        </p:nvSpPr>
        <p:spPr>
          <a:xfrm>
            <a:off x="3520440" y="3749040"/>
            <a:ext cx="914" cy="228600"/>
          </a:xfrm>
          <a:prstGeom prst="line">
            <a:avLst/>
          </a:prstGeom>
          <a:noFill/>
          <a:ln w="19050">
            <a:solidFill>
              <a:schemeClr val="accent3"/>
            </a:solidFill>
            <a:prstDash val="solid"/>
            <a:tailEnd type="triangle"/>
          </a:ln>
        </p:spPr>
      </p:sp>
      <p:sp>
        <p:nvSpPr>
          <p:cNvPr id="40" name="ar-pull"/>
          <p:cNvSpPr/>
          <p:nvPr/>
        </p:nvSpPr>
        <p:spPr>
          <a:xfrm>
            <a:off x="9509760" y="2057400"/>
            <a:ext cx="914" cy="2148840"/>
          </a:xfrm>
          <a:prstGeom prst="line">
            <a:avLst/>
          </a:prstGeom>
          <a:noFill/>
          <a:ln w="19050">
            <a:solidFill>
              <a:srgbClr val="475569"/>
            </a:solidFill>
            <a:prstDash val="dash"/>
            <a:tailEnd type="triangle"/>
          </a:ln>
        </p:spPr>
      </p:sp>
      <p:sp>
        <p:nvSpPr>
          <p:cNvPr id="41" name="ar-pull-label"/>
          <p:cNvSpPr txBox="1"/>
          <p:nvPr/>
        </p:nvSpPr>
        <p:spPr>
          <a:xfrm>
            <a:off x="9601200" y="2926080"/>
            <a:ext cx="1188720" cy="256032"/>
          </a:xfrm>
          <a:prstGeom prst="rect">
            <a:avLst/>
          </a:prstGeom>
          <a:noFill/>
          <a:ln/>
        </p:spPr>
        <p:txBody>
          <a:bodyPr wrap="square" lIns="0" tIns="0" rIns="0" bIns="0" rtlCol="0" anchor="ctr"/>
          <a:lstStyle/>
          <a:p>
            <a:pPr algn="l" indent="0" marL="0">
              <a:buNone/>
            </a:pPr>
            <a:r>
              <a:rPr lang="en-US" sz="1050" i="1" dirty="0">
                <a:solidFill>
                  <a:srgbClr val="64748B"/>
                </a:solidFill>
              </a:rPr>
              <a:t>image pull</a:t>
            </a:r>
            <a:endParaRPr lang="en-US" sz="1050" dirty="0"/>
          </a:p>
        </p:txBody>
      </p:sp>
      <p:sp>
        <p:nvSpPr>
          <p:cNvPr id="42" name="ar-pull2"/>
          <p:cNvSpPr/>
          <p:nvPr/>
        </p:nvSpPr>
        <p:spPr>
          <a:xfrm flipH="1">
            <a:off x="9098280" y="4206240"/>
            <a:ext cx="411480" cy="914"/>
          </a:xfrm>
          <a:prstGeom prst="line">
            <a:avLst/>
          </a:prstGeom>
          <a:noFill/>
          <a:ln w="19050">
            <a:solidFill>
              <a:srgbClr val="475569"/>
            </a:solidFill>
            <a:prstDash val="dash"/>
            <a:tailEnd type="triangle"/>
          </a:ln>
        </p:spPr>
      </p:sp>
      <p:sp>
        <p:nvSpPr>
          <p:cNvPr id="43" name="a-browser"/>
          <p:cNvSpPr/>
          <p:nvPr/>
        </p:nvSpPr>
        <p:spPr>
          <a:xfrm>
            <a:off x="548640" y="4681728"/>
            <a:ext cx="1463040" cy="685800"/>
          </a:xfrm>
          <a:prstGeom prst="roundRect">
            <a:avLst>
              <a:gd name="adj" fmla="val 8000"/>
            </a:avLst>
          </a:prstGeom>
          <a:solidFill>
            <a:schemeClr val="bg1"/>
          </a:solidFill>
          <a:ln w="15875">
            <a:solidFill>
              <a:schemeClr val="accent1"/>
            </a:solidFill>
            <a:prstDash val="solid"/>
          </a:ln>
        </p:spPr>
      </p:sp>
      <p:sp>
        <p:nvSpPr>
          <p:cNvPr id="44" name="a-browser-text"/>
          <p:cNvSpPr txBox="1"/>
          <p:nvPr/>
        </p:nvSpPr>
        <p:spPr>
          <a:xfrm>
            <a:off x="548640" y="4681728"/>
            <a:ext cx="1463040" cy="685800"/>
          </a:xfrm>
          <a:prstGeom prst="rect">
            <a:avLst/>
          </a:prstGeom>
          <a:noFill/>
          <a:ln/>
        </p:spPr>
        <p:txBody>
          <a:bodyPr wrap="square" lIns="50800" tIns="50800" rIns="50800" bIns="50800" rtlCol="0" anchor="ctr"/>
          <a:lstStyle/>
          <a:p>
            <a:pPr algn="ctr" indent="0" marL="0">
              <a:buNone/>
            </a:pPr>
            <a:r>
              <a:rPr lang="en-US" sz="1300" b="1" dirty="0">
                <a:solidFill>
                  <a:schemeClr val="tx1"/>
                </a:solidFill>
              </a:rPr>
              <a:t>Browser</a:t>
            </a:r>
            <a:endParaRPr lang="en-US" sz="1300" dirty="0"/>
          </a:p>
        </p:txBody>
      </p:sp>
      <p:sp>
        <p:nvSpPr>
          <p:cNvPr id="45" name="ar-user"/>
          <p:cNvSpPr/>
          <p:nvPr/>
        </p:nvSpPr>
        <p:spPr>
          <a:xfrm>
            <a:off x="2011680" y="5029200"/>
            <a:ext cx="868680" cy="914"/>
          </a:xfrm>
          <a:prstGeom prst="line">
            <a:avLst/>
          </a:prstGeom>
          <a:noFill/>
          <a:ln w="19050">
            <a:solidFill>
              <a:srgbClr val="475569"/>
            </a:solidFill>
            <a:prstDash val="solid"/>
            <a:tailEnd type="triangle"/>
          </a:ln>
        </p:spPr>
      </p:sp>
      <p:sp>
        <p:nvSpPr>
          <p:cNvPr id="46" name="a-tf"/>
          <p:cNvSpPr/>
          <p:nvPr/>
        </p:nvSpPr>
        <p:spPr>
          <a:xfrm>
            <a:off x="9738360" y="4663440"/>
            <a:ext cx="1920240" cy="1463040"/>
          </a:xfrm>
          <a:prstGeom prst="roundRect">
            <a:avLst>
              <a:gd name="adj" fmla="val 3750"/>
            </a:avLst>
          </a:prstGeom>
          <a:solidFill>
            <a:schemeClr val="bg1"/>
          </a:solidFill>
          <a:ln w="15875">
            <a:solidFill>
              <a:srgbClr val="94A3B8"/>
            </a:solidFill>
            <a:prstDash val="dash"/>
          </a:ln>
        </p:spPr>
      </p:sp>
      <p:sp>
        <p:nvSpPr>
          <p:cNvPr id="47" name="a-tf-text"/>
          <p:cNvSpPr txBox="1"/>
          <p:nvPr/>
        </p:nvSpPr>
        <p:spPr>
          <a:xfrm>
            <a:off x="9738360" y="4663440"/>
            <a:ext cx="1920240" cy="1463040"/>
          </a:xfrm>
          <a:prstGeom prst="rect">
            <a:avLst/>
          </a:prstGeom>
          <a:noFill/>
          <a:ln/>
        </p:spPr>
        <p:txBody>
          <a:bodyPr wrap="square" lIns="50800" tIns="50800" rIns="50800" bIns="50800" rtlCol="0" anchor="ctr"/>
          <a:lstStyle/>
          <a:p>
            <a:pPr algn="ctr" indent="0" marL="0">
              <a:buNone/>
            </a:pPr>
            <a:r>
              <a:rPr lang="en-US" sz="1100" dirty="0">
                <a:solidFill>
                  <a:schemeClr val="tx1"/>
                </a:solidFill>
              </a:rPr>
              <a:t>Terraform → AWS ap-south-1</a:t>
            </a:r>
            <a:endParaRPr lang="en-US" sz="1100" dirty="0"/>
          </a:p>
          <a:p>
            <a:pPr algn="ctr" indent="0" marL="0">
              <a:buNone/>
            </a:pPr>
            <a:r>
              <a:rPr lang="en-US" sz="1100" dirty="0">
                <a:solidFill>
                  <a:schemeClr val="tx1"/>
                </a:solidFill>
              </a:rPr>
              <a:t>VPC · 2 public + 2 private subnets · NAT</a:t>
            </a:r>
            <a:endParaRPr lang="en-US" sz="1100" dirty="0"/>
          </a:p>
          <a:p>
            <a:pPr algn="ctr" indent="0" marL="0">
              <a:buNone/>
            </a:pPr>
            <a:r>
              <a:rPr lang="en-US" sz="1100" dirty="0">
                <a:solidFill>
                  <a:schemeClr val="tx1"/>
                </a:solidFill>
              </a:rPr>
              <a:t>EKS 1.34 + node group</a:t>
            </a:r>
            <a:endParaRPr lang="en-US" sz="1100" dirty="0"/>
          </a:p>
          <a:p>
            <a:pPr algn="ctr" indent="0" marL="0">
              <a:buNone/>
            </a:pPr>
            <a:r>
              <a:rPr lang="en-US" sz="1100" dirty="0">
                <a:solidFill>
                  <a:schemeClr val="tx1"/>
                </a:solidFill>
              </a:rPr>
              <a:t>(applied on the moto emulator)</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Application: correctness lives in the database too</a:t>
            </a:r>
            <a:endParaRPr lang="en-US" sz="3400" dirty="0"/>
          </a:p>
        </p:txBody>
      </p:sp>
      <p:sp>
        <p:nvSpPr>
          <p:cNvPr id="4" name="st-ep-value"/>
          <p:cNvSpPr txBox="1"/>
          <p:nvPr/>
        </p:nvSpPr>
        <p:spPr>
          <a:xfrm>
            <a:off x="548640" y="1371600"/>
            <a:ext cx="2377440" cy="777240"/>
          </a:xfrm>
          <a:prstGeom prst="rect">
            <a:avLst/>
          </a:prstGeom>
          <a:noFill/>
          <a:ln/>
        </p:spPr>
        <p:txBody>
          <a:bodyPr wrap="square" lIns="0" tIns="0" rIns="0" bIns="0" rtlCol="0" anchor="ctr"/>
          <a:lstStyle/>
          <a:p>
            <a:pPr indent="0" marL="0">
              <a:buNone/>
            </a:pPr>
            <a:r>
              <a:rPr lang="en-US" sz="4400" b="1" dirty="0">
                <a:solidFill>
                  <a:schemeClr val="accent1"/>
                </a:solidFill>
              </a:rPr>
              <a:t>17</a:t>
            </a:r>
            <a:endParaRPr lang="en-US" sz="4400" dirty="0"/>
          </a:p>
        </p:txBody>
      </p:sp>
      <p:sp>
        <p:nvSpPr>
          <p:cNvPr id="5" name="st-ep-label"/>
          <p:cNvSpPr txBox="1"/>
          <p:nvPr/>
        </p:nvSpPr>
        <p:spPr>
          <a:xfrm>
            <a:off x="548640" y="2148840"/>
            <a:ext cx="2377440" cy="457200"/>
          </a:xfrm>
          <a:prstGeom prst="rect">
            <a:avLst/>
          </a:prstGeom>
          <a:noFill/>
          <a:ln/>
        </p:spPr>
        <p:txBody>
          <a:bodyPr wrap="square" lIns="0" tIns="0" rIns="0" bIns="0" rtlCol="0" anchor="t"/>
          <a:lstStyle/>
          <a:p>
            <a:pPr indent="0" marL="0">
              <a:buNone/>
            </a:pPr>
            <a:r>
              <a:rPr lang="en-US" sz="1300" dirty="0">
                <a:solidFill>
                  <a:srgbClr val="64748B"/>
                </a:solidFill>
              </a:rPr>
              <a:t>endpoints (14 under /api)</a:t>
            </a:r>
            <a:endParaRPr lang="en-US" sz="1300" dirty="0"/>
          </a:p>
        </p:txBody>
      </p:sp>
      <p:sp>
        <p:nvSpPr>
          <p:cNvPr id="6" name="st-mig-value"/>
          <p:cNvSpPr txBox="1"/>
          <p:nvPr/>
        </p:nvSpPr>
        <p:spPr>
          <a:xfrm>
            <a:off x="3017520" y="1371600"/>
            <a:ext cx="2194560" cy="777240"/>
          </a:xfrm>
          <a:prstGeom prst="rect">
            <a:avLst/>
          </a:prstGeom>
          <a:noFill/>
          <a:ln/>
        </p:spPr>
        <p:txBody>
          <a:bodyPr wrap="square" lIns="0" tIns="0" rIns="0" bIns="0" rtlCol="0" anchor="ctr"/>
          <a:lstStyle/>
          <a:p>
            <a:pPr indent="0" marL="0">
              <a:buNone/>
            </a:pPr>
            <a:r>
              <a:rPr lang="en-US" sz="4400" b="1" dirty="0">
                <a:solidFill>
                  <a:schemeClr val="accent1"/>
                </a:solidFill>
              </a:rPr>
              <a:t>3</a:t>
            </a:r>
            <a:endParaRPr lang="en-US" sz="4400" dirty="0"/>
          </a:p>
        </p:txBody>
      </p:sp>
      <p:sp>
        <p:nvSpPr>
          <p:cNvPr id="7" name="st-mig-label"/>
          <p:cNvSpPr txBox="1"/>
          <p:nvPr/>
        </p:nvSpPr>
        <p:spPr>
          <a:xfrm>
            <a:off x="3017520" y="2148840"/>
            <a:ext cx="2194560" cy="457200"/>
          </a:xfrm>
          <a:prstGeom prst="rect">
            <a:avLst/>
          </a:prstGeom>
          <a:noFill/>
          <a:ln/>
        </p:spPr>
        <p:txBody>
          <a:bodyPr wrap="square" lIns="0" tIns="0" rIns="0" bIns="0" rtlCol="0" anchor="t"/>
          <a:lstStyle/>
          <a:p>
            <a:pPr indent="0" marL="0">
              <a:buNone/>
            </a:pPr>
            <a:r>
              <a:rPr lang="en-US" sz="1300" dirty="0">
                <a:solidFill>
                  <a:srgbClr val="64748B"/>
                </a:solidFill>
              </a:rPr>
              <a:t>Alembic migrations</a:t>
            </a:r>
            <a:endParaRPr lang="en-US" sz="1300" dirty="0"/>
          </a:p>
        </p:txBody>
      </p:sp>
      <p:sp>
        <p:nvSpPr>
          <p:cNvPr id="8" name="st-tests-value"/>
          <p:cNvSpPr txBox="1"/>
          <p:nvPr/>
        </p:nvSpPr>
        <p:spPr>
          <a:xfrm>
            <a:off x="5303520" y="1371600"/>
            <a:ext cx="2743200" cy="777240"/>
          </a:xfrm>
          <a:prstGeom prst="rect">
            <a:avLst/>
          </a:prstGeom>
          <a:noFill/>
          <a:ln/>
        </p:spPr>
        <p:txBody>
          <a:bodyPr wrap="square" lIns="0" tIns="0" rIns="0" bIns="0" rtlCol="0" anchor="ctr"/>
          <a:lstStyle/>
          <a:p>
            <a:pPr indent="0" marL="0">
              <a:buNone/>
            </a:pPr>
            <a:r>
              <a:rPr lang="en-US" sz="4400" b="1" dirty="0">
                <a:solidFill>
                  <a:schemeClr val="accent1"/>
                </a:solidFill>
              </a:rPr>
              <a:t>32</a:t>
            </a:r>
            <a:endParaRPr lang="en-US" sz="4400" dirty="0"/>
          </a:p>
        </p:txBody>
      </p:sp>
      <p:sp>
        <p:nvSpPr>
          <p:cNvPr id="9" name="st-tests-label"/>
          <p:cNvSpPr txBox="1"/>
          <p:nvPr/>
        </p:nvSpPr>
        <p:spPr>
          <a:xfrm>
            <a:off x="5303520" y="2148840"/>
            <a:ext cx="2743200" cy="457200"/>
          </a:xfrm>
          <a:prstGeom prst="rect">
            <a:avLst/>
          </a:prstGeom>
          <a:noFill/>
          <a:ln/>
        </p:spPr>
        <p:txBody>
          <a:bodyPr wrap="square" lIns="0" tIns="0" rIns="0" bIns="0" rtlCol="0" anchor="t"/>
          <a:lstStyle/>
          <a:p>
            <a:pPr indent="0" marL="0">
              <a:buNone/>
            </a:pPr>
            <a:r>
              <a:rPr lang="en-US" sz="1300" dirty="0">
                <a:solidFill>
                  <a:srgbClr val="64748B"/>
                </a:solidFill>
              </a:rPr>
              <a:t>pytest cases on a throwaway DB</a:t>
            </a:r>
            <a:endParaRPr lang="en-US" sz="1300" dirty="0"/>
          </a:p>
        </p:txBody>
      </p:sp>
      <p:sp>
        <p:nvSpPr>
          <p:cNvPr id="10" name="sm-BOOKED"/>
          <p:cNvSpPr/>
          <p:nvPr/>
        </p:nvSpPr>
        <p:spPr>
          <a:xfrm>
            <a:off x="731520" y="3246120"/>
            <a:ext cx="1920240" cy="640080"/>
          </a:xfrm>
          <a:prstGeom prst="roundRect">
            <a:avLst>
              <a:gd name="adj" fmla="val 8571"/>
            </a:avLst>
          </a:prstGeom>
          <a:solidFill>
            <a:srgbClr val="DBEAFE"/>
          </a:solidFill>
          <a:ln w="15875">
            <a:solidFill>
              <a:schemeClr val="accent4"/>
            </a:solidFill>
            <a:prstDash val="solid"/>
          </a:ln>
        </p:spPr>
      </p:sp>
      <p:sp>
        <p:nvSpPr>
          <p:cNvPr id="11" name="sm-BOOKED-text"/>
          <p:cNvSpPr txBox="1"/>
          <p:nvPr/>
        </p:nvSpPr>
        <p:spPr>
          <a:xfrm>
            <a:off x="731520" y="3246120"/>
            <a:ext cx="1920240" cy="640080"/>
          </a:xfrm>
          <a:prstGeom prst="rect">
            <a:avLst/>
          </a:prstGeom>
          <a:noFill/>
          <a:ln/>
        </p:spPr>
        <p:txBody>
          <a:bodyPr wrap="square" lIns="50800" tIns="50800" rIns="50800" bIns="50800" rtlCol="0" anchor="ctr"/>
          <a:lstStyle/>
          <a:p>
            <a:pPr algn="ctr" indent="0" marL="0">
              <a:buNone/>
            </a:pPr>
            <a:r>
              <a:rPr lang="en-US" sz="1400" b="1" dirty="0">
                <a:solidFill>
                  <a:schemeClr val="tx1"/>
                </a:solidFill>
              </a:rPr>
              <a:t>BOOKED</a:t>
            </a:r>
            <a:endParaRPr lang="en-US" sz="1400" dirty="0"/>
          </a:p>
        </p:txBody>
      </p:sp>
      <p:sp>
        <p:nvSpPr>
          <p:cNvPr id="12" name="sm-CHECKED_IN"/>
          <p:cNvSpPr/>
          <p:nvPr/>
        </p:nvSpPr>
        <p:spPr>
          <a:xfrm>
            <a:off x="3291840" y="3246120"/>
            <a:ext cx="1920240" cy="640080"/>
          </a:xfrm>
          <a:prstGeom prst="roundRect">
            <a:avLst>
              <a:gd name="adj" fmla="val 8571"/>
            </a:avLst>
          </a:prstGeom>
          <a:solidFill>
            <a:srgbClr val="FEF3C7"/>
          </a:solidFill>
          <a:ln w="15875">
            <a:solidFill>
              <a:schemeClr val="accent3"/>
            </a:solidFill>
            <a:prstDash val="solid"/>
          </a:ln>
        </p:spPr>
      </p:sp>
      <p:sp>
        <p:nvSpPr>
          <p:cNvPr id="13" name="sm-CHECKED_IN-text"/>
          <p:cNvSpPr txBox="1"/>
          <p:nvPr/>
        </p:nvSpPr>
        <p:spPr>
          <a:xfrm>
            <a:off x="3291840" y="3246120"/>
            <a:ext cx="1920240" cy="640080"/>
          </a:xfrm>
          <a:prstGeom prst="rect">
            <a:avLst/>
          </a:prstGeom>
          <a:noFill/>
          <a:ln/>
        </p:spPr>
        <p:txBody>
          <a:bodyPr wrap="square" lIns="50800" tIns="50800" rIns="50800" bIns="50800" rtlCol="0" anchor="ctr"/>
          <a:lstStyle/>
          <a:p>
            <a:pPr algn="ctr" indent="0" marL="0">
              <a:buNone/>
            </a:pPr>
            <a:r>
              <a:rPr lang="en-US" sz="1400" b="1" dirty="0">
                <a:solidFill>
                  <a:schemeClr val="tx1"/>
                </a:solidFill>
              </a:rPr>
              <a:t>CHECKED_IN</a:t>
            </a:r>
            <a:endParaRPr lang="en-US" sz="1400" dirty="0"/>
          </a:p>
        </p:txBody>
      </p:sp>
      <p:sp>
        <p:nvSpPr>
          <p:cNvPr id="14" name="sm-COMPLETED"/>
          <p:cNvSpPr/>
          <p:nvPr/>
        </p:nvSpPr>
        <p:spPr>
          <a:xfrm>
            <a:off x="5852160" y="3246120"/>
            <a:ext cx="1920240" cy="640080"/>
          </a:xfrm>
          <a:prstGeom prst="roundRect">
            <a:avLst>
              <a:gd name="adj" fmla="val 8571"/>
            </a:avLst>
          </a:prstGeom>
          <a:solidFill>
            <a:srgbClr val="DCFCE7"/>
          </a:solidFill>
          <a:ln w="15875">
            <a:solidFill>
              <a:schemeClr val="accent5"/>
            </a:solidFill>
            <a:prstDash val="solid"/>
          </a:ln>
        </p:spPr>
      </p:sp>
      <p:sp>
        <p:nvSpPr>
          <p:cNvPr id="15" name="sm-COMPLETED-text"/>
          <p:cNvSpPr txBox="1"/>
          <p:nvPr/>
        </p:nvSpPr>
        <p:spPr>
          <a:xfrm>
            <a:off x="5852160" y="3246120"/>
            <a:ext cx="1920240" cy="640080"/>
          </a:xfrm>
          <a:prstGeom prst="rect">
            <a:avLst/>
          </a:prstGeom>
          <a:noFill/>
          <a:ln/>
        </p:spPr>
        <p:txBody>
          <a:bodyPr wrap="square" lIns="50800" tIns="50800" rIns="50800" bIns="50800" rtlCol="0" anchor="ctr"/>
          <a:lstStyle/>
          <a:p>
            <a:pPr algn="ctr" indent="0" marL="0">
              <a:buNone/>
            </a:pPr>
            <a:r>
              <a:rPr lang="en-US" sz="1400" b="1" dirty="0">
                <a:solidFill>
                  <a:schemeClr val="tx1"/>
                </a:solidFill>
              </a:rPr>
              <a:t>COMPLETED</a:t>
            </a:r>
            <a:endParaRPr lang="en-US" sz="1400" dirty="0"/>
          </a:p>
        </p:txBody>
      </p:sp>
      <p:sp>
        <p:nvSpPr>
          <p:cNvPr id="16" name="sm-noshow"/>
          <p:cNvSpPr/>
          <p:nvPr/>
        </p:nvSpPr>
        <p:spPr>
          <a:xfrm>
            <a:off x="731520" y="4800600"/>
            <a:ext cx="1920240" cy="640080"/>
          </a:xfrm>
          <a:prstGeom prst="roundRect">
            <a:avLst>
              <a:gd name="adj" fmla="val 8571"/>
            </a:avLst>
          </a:prstGeom>
          <a:solidFill>
            <a:srgbClr val="FEE2E2"/>
          </a:solidFill>
          <a:ln w="15875">
            <a:solidFill>
              <a:schemeClr val="accent6"/>
            </a:solidFill>
            <a:prstDash val="solid"/>
          </a:ln>
        </p:spPr>
      </p:sp>
      <p:sp>
        <p:nvSpPr>
          <p:cNvPr id="17" name="sm-noshow-text"/>
          <p:cNvSpPr txBox="1"/>
          <p:nvPr/>
        </p:nvSpPr>
        <p:spPr>
          <a:xfrm>
            <a:off x="731520" y="4800600"/>
            <a:ext cx="1920240" cy="640080"/>
          </a:xfrm>
          <a:prstGeom prst="rect">
            <a:avLst/>
          </a:prstGeom>
          <a:noFill/>
          <a:ln/>
        </p:spPr>
        <p:txBody>
          <a:bodyPr wrap="square" lIns="50800" tIns="50800" rIns="50800" bIns="50800" rtlCol="0" anchor="ctr"/>
          <a:lstStyle/>
          <a:p>
            <a:pPr algn="ctr" indent="0" marL="0">
              <a:buNone/>
            </a:pPr>
            <a:r>
              <a:rPr lang="en-US" sz="1400" b="1" dirty="0">
                <a:solidFill>
                  <a:schemeClr val="tx1"/>
                </a:solidFill>
              </a:rPr>
              <a:t>NO_SHOW</a:t>
            </a:r>
            <a:endParaRPr lang="en-US" sz="1400" dirty="0"/>
          </a:p>
        </p:txBody>
      </p:sp>
      <p:sp>
        <p:nvSpPr>
          <p:cNvPr id="18" name="sm-cancel"/>
          <p:cNvSpPr/>
          <p:nvPr/>
        </p:nvSpPr>
        <p:spPr>
          <a:xfrm>
            <a:off x="3291840" y="4800600"/>
            <a:ext cx="1920240" cy="640080"/>
          </a:xfrm>
          <a:prstGeom prst="roundRect">
            <a:avLst>
              <a:gd name="adj" fmla="val 8571"/>
            </a:avLst>
          </a:prstGeom>
          <a:solidFill>
            <a:srgbClr val="F1F5F9"/>
          </a:solidFill>
          <a:ln w="15875">
            <a:solidFill>
              <a:srgbClr val="94A3B8"/>
            </a:solidFill>
            <a:prstDash val="solid"/>
          </a:ln>
        </p:spPr>
      </p:sp>
      <p:sp>
        <p:nvSpPr>
          <p:cNvPr id="19" name="sm-cancel-text"/>
          <p:cNvSpPr txBox="1"/>
          <p:nvPr/>
        </p:nvSpPr>
        <p:spPr>
          <a:xfrm>
            <a:off x="3291840" y="4800600"/>
            <a:ext cx="1920240" cy="640080"/>
          </a:xfrm>
          <a:prstGeom prst="rect">
            <a:avLst/>
          </a:prstGeom>
          <a:noFill/>
          <a:ln/>
        </p:spPr>
        <p:txBody>
          <a:bodyPr wrap="square" lIns="50800" tIns="50800" rIns="50800" bIns="50800" rtlCol="0" anchor="ctr"/>
          <a:lstStyle/>
          <a:p>
            <a:pPr algn="ctr" indent="0" marL="0">
              <a:buNone/>
            </a:pPr>
            <a:r>
              <a:rPr lang="en-US" sz="1400" b="1" dirty="0">
                <a:solidFill>
                  <a:schemeClr val="tx1"/>
                </a:solidFill>
              </a:rPr>
              <a:t>CANCELLED</a:t>
            </a:r>
            <a:endParaRPr lang="en-US" sz="1400" dirty="0"/>
          </a:p>
        </p:txBody>
      </p:sp>
      <p:sp>
        <p:nvSpPr>
          <p:cNvPr id="20" name="sm1"/>
          <p:cNvSpPr/>
          <p:nvPr/>
        </p:nvSpPr>
        <p:spPr>
          <a:xfrm>
            <a:off x="2651760" y="3566160"/>
            <a:ext cx="640080" cy="914"/>
          </a:xfrm>
          <a:prstGeom prst="line">
            <a:avLst/>
          </a:prstGeom>
          <a:noFill/>
          <a:ln w="19050">
            <a:solidFill>
              <a:srgbClr val="475569"/>
            </a:solidFill>
            <a:prstDash val="solid"/>
            <a:tailEnd type="triangle"/>
          </a:ln>
        </p:spPr>
      </p:sp>
      <p:sp>
        <p:nvSpPr>
          <p:cNvPr id="21" name="sm2"/>
          <p:cNvSpPr/>
          <p:nvPr/>
        </p:nvSpPr>
        <p:spPr>
          <a:xfrm>
            <a:off x="5212080" y="3566160"/>
            <a:ext cx="640080" cy="914"/>
          </a:xfrm>
          <a:prstGeom prst="line">
            <a:avLst/>
          </a:prstGeom>
          <a:noFill/>
          <a:ln w="19050">
            <a:solidFill>
              <a:srgbClr val="475569"/>
            </a:solidFill>
            <a:prstDash val="solid"/>
            <a:tailEnd type="triangle"/>
          </a:ln>
        </p:spPr>
      </p:sp>
      <p:sp>
        <p:nvSpPr>
          <p:cNvPr id="22" name="sm3"/>
          <p:cNvSpPr/>
          <p:nvPr/>
        </p:nvSpPr>
        <p:spPr>
          <a:xfrm>
            <a:off x="1691640" y="3886200"/>
            <a:ext cx="914" cy="914400"/>
          </a:xfrm>
          <a:prstGeom prst="line">
            <a:avLst/>
          </a:prstGeom>
          <a:noFill/>
          <a:ln w="19050">
            <a:solidFill>
              <a:srgbClr val="475569"/>
            </a:solidFill>
            <a:prstDash val="solid"/>
            <a:tailEnd type="triangle"/>
          </a:ln>
        </p:spPr>
      </p:sp>
      <p:sp>
        <p:nvSpPr>
          <p:cNvPr id="23" name="sm4"/>
          <p:cNvSpPr/>
          <p:nvPr/>
        </p:nvSpPr>
        <p:spPr>
          <a:xfrm>
            <a:off x="4251960" y="3886200"/>
            <a:ext cx="914" cy="914400"/>
          </a:xfrm>
          <a:prstGeom prst="line">
            <a:avLst/>
          </a:prstGeom>
          <a:noFill/>
          <a:ln w="19050">
            <a:solidFill>
              <a:srgbClr val="475569"/>
            </a:solidFill>
            <a:prstDash val="solid"/>
            <a:tailEnd type="triangle"/>
          </a:ln>
        </p:spPr>
      </p:sp>
      <p:sp>
        <p:nvSpPr>
          <p:cNvPr id="24" name="sm5"/>
          <p:cNvSpPr/>
          <p:nvPr/>
        </p:nvSpPr>
        <p:spPr>
          <a:xfrm>
            <a:off x="2377440" y="3886200"/>
            <a:ext cx="1188720" cy="914400"/>
          </a:xfrm>
          <a:prstGeom prst="line">
            <a:avLst/>
          </a:prstGeom>
          <a:noFill/>
          <a:ln w="19050">
            <a:solidFill>
              <a:srgbClr val="475569"/>
            </a:solidFill>
            <a:prstDash val="solid"/>
            <a:tailEnd type="triangle"/>
          </a:ln>
        </p:spPr>
      </p:sp>
      <p:sp>
        <p:nvSpPr>
          <p:cNvPr id="25" name="sm-note"/>
          <p:cNvSpPr txBox="1"/>
          <p:nvPr/>
        </p:nvSpPr>
        <p:spPr>
          <a:xfrm>
            <a:off x="731520" y="5623560"/>
            <a:ext cx="7132320" cy="365760"/>
          </a:xfrm>
          <a:prstGeom prst="rect">
            <a:avLst/>
          </a:prstGeom>
          <a:noFill/>
          <a:ln/>
        </p:spPr>
        <p:txBody>
          <a:bodyPr wrap="square" lIns="0" tIns="0" rIns="0" bIns="0" rtlCol="0" anchor="ctr"/>
          <a:lstStyle/>
          <a:p>
            <a:pPr indent="0" marL="0">
              <a:buNone/>
            </a:pPr>
            <a:r>
              <a:rPr lang="en-US" sz="1300" i="1" dirty="0">
                <a:solidFill>
                  <a:srgbClr val="64748B"/>
                </a:solidFill>
              </a:rPr>
              <a:t>Any other move → 409, naming the allowed ones. Every change is written to appointment_events.</a:t>
            </a:r>
            <a:endParaRPr lang="en-US" sz="1300" dirty="0"/>
          </a:p>
        </p:txBody>
      </p:sp>
      <p:sp>
        <p:nvSpPr>
          <p:cNvPr id="26" name="safety-card"/>
          <p:cNvSpPr/>
          <p:nvPr/>
        </p:nvSpPr>
        <p:spPr>
          <a:xfrm>
            <a:off x="8412480" y="1371600"/>
            <a:ext cx="3200400" cy="4572000"/>
          </a:xfrm>
          <a:prstGeom prst="roundRect">
            <a:avLst>
              <a:gd name="adj" fmla="val 2286"/>
            </a:avLst>
          </a:prstGeom>
          <a:solidFill>
            <a:srgbClr val="ECFDF5"/>
          </a:solidFill>
          <a:ln w="12700">
            <a:solidFill>
              <a:srgbClr val="ECFDF5"/>
            </a:solidFill>
            <a:prstDash val="solid"/>
          </a:ln>
        </p:spPr>
      </p:sp>
      <p:sp>
        <p:nvSpPr>
          <p:cNvPr id="27" name="safety-text"/>
          <p:cNvSpPr txBox="1"/>
          <p:nvPr/>
        </p:nvSpPr>
        <p:spPr>
          <a:xfrm>
            <a:off x="8641080" y="1554480"/>
            <a:ext cx="2788920" cy="4206240"/>
          </a:xfrm>
          <a:prstGeom prst="rect">
            <a:avLst/>
          </a:prstGeom>
          <a:noFill/>
          <a:ln/>
        </p:spPr>
        <p:txBody>
          <a:bodyPr wrap="square" lIns="0" tIns="0" rIns="0" bIns="0" rtlCol="0" anchor="t"/>
          <a:lstStyle/>
          <a:p>
            <a:pPr indent="0" marL="0">
              <a:buNone/>
            </a:pPr>
            <a:r>
              <a:rPr lang="en-US" sz="1800" b="1" dirty="0">
                <a:solidFill>
                  <a:schemeClr val="accent1"/>
                </a:solidFill>
              </a:rPr>
              <a:t>No double booking</a:t>
            </a:r>
            <a:endParaRPr lang="en-US" sz="1800" dirty="0"/>
          </a:p>
          <a:p>
            <a:pPr indent="0" marL="0">
              <a:buNone/>
            </a:pPr>
            <a:r>
              <a:rPr lang="en-US" sz="1400" dirty="0">
                <a:solidFill>
                  <a:schemeClr val="tx1"/>
                </a:solidFill>
              </a:rPr>
              <a:t>Booking locks the doctor's row (SELECT … FOR UPDATE) and checks for overlap, so two replicas can't both take the same slot.</a:t>
            </a:r>
            <a:endParaRPr lang="en-US" sz="1800" dirty="0"/>
          </a:p>
          <a:p>
            <a:pPr indent="0" marL="0">
              <a:buNone/>
            </a:pPr>
            <a:r>
              <a:rPr lang="en-US" sz="800" dirty="0">
                <a:solidFill>
                  <a:schemeClr val="tx1"/>
                </a:solidFill>
              </a:rPr>
              <a:t> </a:t>
            </a:r>
            <a:endParaRPr lang="en-US" sz="1800" dirty="0"/>
          </a:p>
          <a:p>
            <a:pPr indent="0" marL="0">
              <a:buNone/>
            </a:pPr>
            <a:r>
              <a:rPr lang="en-US" sz="1800" b="1" dirty="0">
                <a:solidFill>
                  <a:schemeClr val="accent1"/>
                </a:solidFill>
              </a:rPr>
              <a:t>Database guard rails</a:t>
            </a:r>
            <a:endParaRPr lang="en-US" sz="1800" dirty="0"/>
          </a:p>
          <a:p>
            <a:pPr indent="0" marL="0">
              <a:buNone/>
            </a:pPr>
            <a:r>
              <a:rPr lang="en-US" sz="1400" dirty="0">
                <a:solidFill>
                  <a:schemeClr val="tx1"/>
                </a:solidFill>
              </a:rPr>
              <a:t>CHECK (ends_at &gt; starts_at), a status CHECK, RESTRICT on doctors with history, CASCADE for the audit trail.</a:t>
            </a:r>
            <a:endParaRPr lang="en-US" sz="1800" dirty="0"/>
          </a:p>
          <a:p>
            <a:pPr indent="0" marL="0">
              <a:buNone/>
            </a:pPr>
            <a:r>
              <a:rPr lang="en-US" sz="800" dirty="0">
                <a:solidFill>
                  <a:schemeClr val="tx1"/>
                </a:solidFill>
              </a:rPr>
              <a:t> </a:t>
            </a:r>
            <a:endParaRPr lang="en-US" sz="1800" dirty="0"/>
          </a:p>
          <a:p>
            <a:pPr indent="0" marL="0">
              <a:buNone/>
            </a:pPr>
            <a:r>
              <a:rPr lang="en-US" sz="1800" b="1" dirty="0">
                <a:solidFill>
                  <a:schemeClr val="accent1"/>
                </a:solidFill>
              </a:rPr>
              <a:t>Safe migrations</a:t>
            </a:r>
            <a:endParaRPr lang="en-US" sz="1800" dirty="0"/>
          </a:p>
          <a:p>
            <a:pPr indent="0" marL="0">
              <a:buNone/>
            </a:pPr>
            <a:r>
              <a:rPr lang="en-US" sz="1400" dirty="0">
                <a:solidFill>
                  <a:schemeClr val="tx1"/>
                </a:solidFill>
              </a:rPr>
              <a:t>A Postgres advisory lock makes replicas migrate one at a time.</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CI/CD: eleven jobs from push to production</a:t>
            </a:r>
            <a:endParaRPr lang="en-US" sz="3400" dirty="0"/>
          </a:p>
        </p:txBody>
      </p:sp>
      <p:sp>
        <p:nvSpPr>
          <p:cNvPr id="4" name="chev0"/>
          <p:cNvSpPr/>
          <p:nvPr/>
        </p:nvSpPr>
        <p:spPr>
          <a:xfrm>
            <a:off x="548640" y="1463040"/>
            <a:ext cx="1920240" cy="822960"/>
          </a:xfrm>
          <a:prstGeom prst="chevron">
            <a:avLst/>
          </a:prstGeom>
          <a:solidFill>
            <a:schemeClr val="accent1"/>
          </a:solidFill>
          <a:ln w="12700">
            <a:solidFill>
              <a:schemeClr val="bg1"/>
            </a:solidFill>
            <a:prstDash val="solid"/>
          </a:ln>
        </p:spPr>
      </p:sp>
      <p:sp>
        <p:nvSpPr>
          <p:cNvPr id="5" name="chev0-text"/>
          <p:cNvSpPr txBox="1"/>
          <p:nvPr/>
        </p:nvSpPr>
        <p:spPr>
          <a:xfrm>
            <a:off x="777240" y="1463040"/>
            <a:ext cx="1508760" cy="822960"/>
          </a:xfrm>
          <a:prstGeom prst="rect">
            <a:avLst/>
          </a:prstGeom>
          <a:noFill/>
          <a:ln/>
        </p:spPr>
        <p:txBody>
          <a:bodyPr wrap="square" lIns="0" tIns="0" rIns="0" bIns="0" rtlCol="0" anchor="ctr"/>
          <a:lstStyle/>
          <a:p>
            <a:pPr algn="ctr" indent="0" marL="0">
              <a:buNone/>
            </a:pPr>
            <a:r>
              <a:rPr lang="en-US" sz="1400" b="1" dirty="0">
                <a:solidFill>
                  <a:schemeClr val="bg1"/>
                </a:solidFill>
              </a:rPr>
              <a:t>Test &amp; lint</a:t>
            </a:r>
            <a:endParaRPr lang="en-US" sz="1400" dirty="0"/>
          </a:p>
        </p:txBody>
      </p:sp>
      <p:sp>
        <p:nvSpPr>
          <p:cNvPr id="6" name="chev0-sub"/>
          <p:cNvSpPr txBox="1"/>
          <p:nvPr/>
        </p:nvSpPr>
        <p:spPr>
          <a:xfrm>
            <a:off x="548640" y="2377440"/>
            <a:ext cx="1828800" cy="822960"/>
          </a:xfrm>
          <a:prstGeom prst="rect">
            <a:avLst/>
          </a:prstGeom>
          <a:noFill/>
          <a:ln/>
        </p:spPr>
        <p:txBody>
          <a:bodyPr wrap="square" lIns="0" tIns="0" rIns="0" bIns="0" rtlCol="0" anchor="t"/>
          <a:lstStyle/>
          <a:p>
            <a:pPr algn="ctr" indent="0" marL="0">
              <a:buNone/>
            </a:pPr>
            <a:r>
              <a:rPr lang="en-US" sz="1200" dirty="0">
                <a:solidFill>
                  <a:srgbClr val="64748B"/>
                </a:solidFill>
              </a:rPr>
              <a:t>pytest · migrations race</a:t>
            </a:r>
            <a:endParaRPr lang="en-US" sz="1200" dirty="0"/>
          </a:p>
          <a:p>
            <a:pPr algn="ctr" indent="0" marL="0">
              <a:buNone/>
            </a:pPr>
            <a:r>
              <a:rPr lang="en-US" sz="1200" dirty="0">
                <a:solidFill>
                  <a:srgbClr val="64748B"/>
                </a:solidFill>
              </a:rPr>
              <a:t>frontend · Gitleaks</a:t>
            </a:r>
            <a:endParaRPr lang="en-US" sz="1200" dirty="0"/>
          </a:p>
          <a:p>
            <a:pPr algn="ctr" indent="0" marL="0">
              <a:buNone/>
            </a:pPr>
            <a:r>
              <a:rPr lang="en-US" sz="1200" dirty="0">
                <a:solidFill>
                  <a:srgbClr val="64748B"/>
                </a:solidFill>
              </a:rPr>
              <a:t>Bandit · helm lint</a:t>
            </a:r>
            <a:endParaRPr lang="en-US" sz="1200" dirty="0"/>
          </a:p>
        </p:txBody>
      </p:sp>
      <p:sp>
        <p:nvSpPr>
          <p:cNvPr id="7" name="chev1"/>
          <p:cNvSpPr/>
          <p:nvPr/>
        </p:nvSpPr>
        <p:spPr>
          <a:xfrm>
            <a:off x="2423160" y="1463040"/>
            <a:ext cx="1920240" cy="822960"/>
          </a:xfrm>
          <a:prstGeom prst="chevron">
            <a:avLst/>
          </a:prstGeom>
          <a:solidFill>
            <a:schemeClr val="accent1"/>
          </a:solidFill>
          <a:ln w="12700">
            <a:solidFill>
              <a:schemeClr val="bg1"/>
            </a:solidFill>
            <a:prstDash val="solid"/>
          </a:ln>
        </p:spPr>
      </p:sp>
      <p:sp>
        <p:nvSpPr>
          <p:cNvPr id="8" name="chev1-text"/>
          <p:cNvSpPr txBox="1"/>
          <p:nvPr/>
        </p:nvSpPr>
        <p:spPr>
          <a:xfrm>
            <a:off x="2651760" y="1463040"/>
            <a:ext cx="1508760" cy="822960"/>
          </a:xfrm>
          <a:prstGeom prst="rect">
            <a:avLst/>
          </a:prstGeom>
          <a:noFill/>
          <a:ln/>
        </p:spPr>
        <p:txBody>
          <a:bodyPr wrap="square" lIns="0" tIns="0" rIns="0" bIns="0" rtlCol="0" anchor="ctr"/>
          <a:lstStyle/>
          <a:p>
            <a:pPr algn="ctr" indent="0" marL="0">
              <a:buNone/>
            </a:pPr>
            <a:r>
              <a:rPr lang="en-US" sz="1400" b="1" dirty="0">
                <a:solidFill>
                  <a:schemeClr val="bg1"/>
                </a:solidFill>
              </a:rPr>
              <a:t>Build ×2</a:t>
            </a:r>
            <a:endParaRPr lang="en-US" sz="1400" dirty="0"/>
          </a:p>
        </p:txBody>
      </p:sp>
      <p:sp>
        <p:nvSpPr>
          <p:cNvPr id="9" name="chev1-sub"/>
          <p:cNvSpPr txBox="1"/>
          <p:nvPr/>
        </p:nvSpPr>
        <p:spPr>
          <a:xfrm>
            <a:off x="2423160" y="2377440"/>
            <a:ext cx="1828800" cy="822960"/>
          </a:xfrm>
          <a:prstGeom prst="rect">
            <a:avLst/>
          </a:prstGeom>
          <a:noFill/>
          <a:ln/>
        </p:spPr>
        <p:txBody>
          <a:bodyPr wrap="square" lIns="0" tIns="0" rIns="0" bIns="0" rtlCol="0" anchor="t"/>
          <a:lstStyle/>
          <a:p>
            <a:pPr algn="ctr" indent="0" marL="0">
              <a:buNone/>
            </a:pPr>
            <a:r>
              <a:rPr lang="en-US" sz="1200" dirty="0">
                <a:solidFill>
                  <a:srgbClr val="64748B"/>
                </a:solidFill>
              </a:rPr>
              <a:t>backend + frontend</a:t>
            </a:r>
            <a:endParaRPr lang="en-US" sz="1200" dirty="0"/>
          </a:p>
          <a:p>
            <a:pPr algn="ctr" indent="0" marL="0">
              <a:buNone/>
            </a:pPr>
            <a:r>
              <a:rPr lang="en-US" sz="1200" dirty="0">
                <a:solidFill>
                  <a:srgbClr val="64748B"/>
                </a:solidFill>
              </a:rPr>
              <a:t>built once</a:t>
            </a:r>
            <a:endParaRPr lang="en-US" sz="1200" dirty="0"/>
          </a:p>
        </p:txBody>
      </p:sp>
      <p:sp>
        <p:nvSpPr>
          <p:cNvPr id="10" name="chev2"/>
          <p:cNvSpPr/>
          <p:nvPr/>
        </p:nvSpPr>
        <p:spPr>
          <a:xfrm>
            <a:off x="4297680" y="1463040"/>
            <a:ext cx="1920240" cy="822960"/>
          </a:xfrm>
          <a:prstGeom prst="chevron">
            <a:avLst/>
          </a:prstGeom>
          <a:solidFill>
            <a:schemeClr val="accent3"/>
          </a:solidFill>
          <a:ln w="12700">
            <a:solidFill>
              <a:schemeClr val="bg1"/>
            </a:solidFill>
            <a:prstDash val="solid"/>
          </a:ln>
        </p:spPr>
      </p:sp>
      <p:sp>
        <p:nvSpPr>
          <p:cNvPr id="11" name="chev2-text"/>
          <p:cNvSpPr txBox="1"/>
          <p:nvPr/>
        </p:nvSpPr>
        <p:spPr>
          <a:xfrm>
            <a:off x="4526280" y="1463040"/>
            <a:ext cx="1508760" cy="822960"/>
          </a:xfrm>
          <a:prstGeom prst="rect">
            <a:avLst/>
          </a:prstGeom>
          <a:noFill/>
          <a:ln/>
        </p:spPr>
        <p:txBody>
          <a:bodyPr wrap="square" lIns="0" tIns="0" rIns="0" bIns="0" rtlCol="0" anchor="ctr"/>
          <a:lstStyle/>
          <a:p>
            <a:pPr algn="ctr" indent="0" marL="0">
              <a:buNone/>
            </a:pPr>
            <a:r>
              <a:rPr lang="en-US" sz="1400" b="1" dirty="0">
                <a:solidFill>
                  <a:schemeClr val="bg1"/>
                </a:solidFill>
              </a:rPr>
              <a:t>Trivy gate ×2</a:t>
            </a:r>
            <a:endParaRPr lang="en-US" sz="1400" dirty="0"/>
          </a:p>
        </p:txBody>
      </p:sp>
      <p:sp>
        <p:nvSpPr>
          <p:cNvPr id="12" name="chev2-sub"/>
          <p:cNvSpPr txBox="1"/>
          <p:nvPr/>
        </p:nvSpPr>
        <p:spPr>
          <a:xfrm>
            <a:off x="4297680" y="2377440"/>
            <a:ext cx="1828800" cy="822960"/>
          </a:xfrm>
          <a:prstGeom prst="rect">
            <a:avLst/>
          </a:prstGeom>
          <a:noFill/>
          <a:ln/>
        </p:spPr>
        <p:txBody>
          <a:bodyPr wrap="square" lIns="0" tIns="0" rIns="0" bIns="0" rtlCol="0" anchor="t"/>
          <a:lstStyle/>
          <a:p>
            <a:pPr algn="ctr" indent="0" marL="0">
              <a:buNone/>
            </a:pPr>
            <a:r>
              <a:rPr lang="en-US" sz="1200" dirty="0">
                <a:solidFill>
                  <a:srgbClr val="64748B"/>
                </a:solidFill>
              </a:rPr>
              <a:t>fixable HIGH/CRITICAL</a:t>
            </a:r>
            <a:endParaRPr lang="en-US" sz="1200" dirty="0"/>
          </a:p>
          <a:p>
            <a:pPr algn="ctr" indent="0" marL="0">
              <a:buNone/>
            </a:pPr>
            <a:r>
              <a:rPr lang="en-US" sz="1200" dirty="0">
                <a:solidFill>
                  <a:srgbClr val="64748B"/>
                </a:solidFill>
              </a:rPr>
              <a:t>fails the build</a:t>
            </a:r>
            <a:endParaRPr lang="en-US" sz="1200" dirty="0"/>
          </a:p>
        </p:txBody>
      </p:sp>
      <p:sp>
        <p:nvSpPr>
          <p:cNvPr id="13" name="chev3"/>
          <p:cNvSpPr/>
          <p:nvPr/>
        </p:nvSpPr>
        <p:spPr>
          <a:xfrm>
            <a:off x="6172200" y="1463040"/>
            <a:ext cx="1920240" cy="822960"/>
          </a:xfrm>
          <a:prstGeom prst="chevron">
            <a:avLst/>
          </a:prstGeom>
          <a:solidFill>
            <a:schemeClr val="accent1"/>
          </a:solidFill>
          <a:ln w="12700">
            <a:solidFill>
              <a:schemeClr val="bg1"/>
            </a:solidFill>
            <a:prstDash val="solid"/>
          </a:ln>
        </p:spPr>
      </p:sp>
      <p:sp>
        <p:nvSpPr>
          <p:cNvPr id="14" name="chev3-text"/>
          <p:cNvSpPr txBox="1"/>
          <p:nvPr/>
        </p:nvSpPr>
        <p:spPr>
          <a:xfrm>
            <a:off x="6400800" y="1463040"/>
            <a:ext cx="1508760" cy="822960"/>
          </a:xfrm>
          <a:prstGeom prst="rect">
            <a:avLst/>
          </a:prstGeom>
          <a:noFill/>
          <a:ln/>
        </p:spPr>
        <p:txBody>
          <a:bodyPr wrap="square" lIns="0" tIns="0" rIns="0" bIns="0" rtlCol="0" anchor="ctr"/>
          <a:lstStyle/>
          <a:p>
            <a:pPr algn="ctr" indent="0" marL="0">
              <a:buNone/>
            </a:pPr>
            <a:r>
              <a:rPr lang="en-US" sz="1400" b="1" dirty="0">
                <a:solidFill>
                  <a:schemeClr val="bg1"/>
                </a:solidFill>
              </a:rPr>
              <a:t>Push GHCR ×2</a:t>
            </a:r>
            <a:endParaRPr lang="en-US" sz="1400" dirty="0"/>
          </a:p>
        </p:txBody>
      </p:sp>
      <p:sp>
        <p:nvSpPr>
          <p:cNvPr id="15" name="chev3-sub"/>
          <p:cNvSpPr txBox="1"/>
          <p:nvPr/>
        </p:nvSpPr>
        <p:spPr>
          <a:xfrm>
            <a:off x="6172200" y="2377440"/>
            <a:ext cx="1828800" cy="822960"/>
          </a:xfrm>
          <a:prstGeom prst="rect">
            <a:avLst/>
          </a:prstGeom>
          <a:noFill/>
          <a:ln/>
        </p:spPr>
        <p:txBody>
          <a:bodyPr wrap="square" lIns="0" tIns="0" rIns="0" bIns="0" rtlCol="0" anchor="t"/>
          <a:lstStyle/>
          <a:p>
            <a:pPr algn="ctr" indent="0" marL="0">
              <a:buNone/>
            </a:pPr>
            <a:r>
              <a:rPr lang="en-US" sz="1200" dirty="0">
                <a:solidFill>
                  <a:srgbClr val="64748B"/>
                </a:solidFill>
              </a:rPr>
              <a:t>the scanned bytes</a:t>
            </a:r>
            <a:endParaRPr lang="en-US" sz="1200" dirty="0"/>
          </a:p>
          <a:p>
            <a:pPr algn="ctr" indent="0" marL="0">
              <a:buNone/>
            </a:pPr>
            <a:r>
              <a:rPr lang="en-US" sz="1200" dirty="0">
                <a:solidFill>
                  <a:srgbClr val="64748B"/>
                </a:solidFill>
              </a:rPr>
              <a:t>tag = commit SHA</a:t>
            </a:r>
            <a:endParaRPr lang="en-US" sz="1200" dirty="0"/>
          </a:p>
        </p:txBody>
      </p:sp>
      <p:sp>
        <p:nvSpPr>
          <p:cNvPr id="16" name="chev4"/>
          <p:cNvSpPr/>
          <p:nvPr/>
        </p:nvSpPr>
        <p:spPr>
          <a:xfrm>
            <a:off x="8046720" y="1463040"/>
            <a:ext cx="1920240" cy="822960"/>
          </a:xfrm>
          <a:prstGeom prst="chevron">
            <a:avLst/>
          </a:prstGeom>
          <a:solidFill>
            <a:schemeClr val="accent1"/>
          </a:solidFill>
          <a:ln w="12700">
            <a:solidFill>
              <a:schemeClr val="bg1"/>
            </a:solidFill>
            <a:prstDash val="solid"/>
          </a:ln>
        </p:spPr>
      </p:sp>
      <p:sp>
        <p:nvSpPr>
          <p:cNvPr id="17" name="chev4-text"/>
          <p:cNvSpPr txBox="1"/>
          <p:nvPr/>
        </p:nvSpPr>
        <p:spPr>
          <a:xfrm>
            <a:off x="8275320" y="1463040"/>
            <a:ext cx="1508760" cy="822960"/>
          </a:xfrm>
          <a:prstGeom prst="rect">
            <a:avLst/>
          </a:prstGeom>
          <a:noFill/>
          <a:ln/>
        </p:spPr>
        <p:txBody>
          <a:bodyPr wrap="square" lIns="0" tIns="0" rIns="0" bIns="0" rtlCol="0" anchor="ctr"/>
          <a:lstStyle/>
          <a:p>
            <a:pPr algn="ctr" indent="0" marL="0">
              <a:buNone/>
            </a:pPr>
            <a:r>
              <a:rPr lang="en-US" sz="1400" b="1" dirty="0">
                <a:solidFill>
                  <a:schemeClr val="bg1"/>
                </a:solidFill>
              </a:rPr>
              <a:t>Deploy</a:t>
            </a:r>
            <a:endParaRPr lang="en-US" sz="1400" dirty="0"/>
          </a:p>
        </p:txBody>
      </p:sp>
      <p:sp>
        <p:nvSpPr>
          <p:cNvPr id="18" name="chev4-sub"/>
          <p:cNvSpPr txBox="1"/>
          <p:nvPr/>
        </p:nvSpPr>
        <p:spPr>
          <a:xfrm>
            <a:off x="8046720" y="2377440"/>
            <a:ext cx="1828800" cy="822960"/>
          </a:xfrm>
          <a:prstGeom prst="rect">
            <a:avLst/>
          </a:prstGeom>
          <a:noFill/>
          <a:ln/>
        </p:spPr>
        <p:txBody>
          <a:bodyPr wrap="square" lIns="0" tIns="0" rIns="0" bIns="0" rtlCol="0" anchor="t"/>
          <a:lstStyle/>
          <a:p>
            <a:pPr algn="ctr" indent="0" marL="0">
              <a:buNone/>
            </a:pPr>
            <a:r>
              <a:rPr lang="en-US" sz="1200" dirty="0">
                <a:solidFill>
                  <a:srgbClr val="64748B"/>
                </a:solidFill>
              </a:rPr>
              <a:t>kind + helm install</a:t>
            </a:r>
            <a:endParaRPr lang="en-US" sz="1200" dirty="0"/>
          </a:p>
          <a:p>
            <a:pPr algn="ctr" indent="0" marL="0">
              <a:buNone/>
            </a:pPr>
            <a:r>
              <a:rPr lang="en-US" sz="1200" dirty="0">
                <a:solidFill>
                  <a:srgbClr val="64748B"/>
                </a:solidFill>
              </a:rPr>
              <a:t>smoke: 201 then 409</a:t>
            </a:r>
            <a:endParaRPr lang="en-US" sz="1200" dirty="0"/>
          </a:p>
        </p:txBody>
      </p:sp>
      <p:sp>
        <p:nvSpPr>
          <p:cNvPr id="19" name="chev5"/>
          <p:cNvSpPr/>
          <p:nvPr/>
        </p:nvSpPr>
        <p:spPr>
          <a:xfrm>
            <a:off x="9921240" y="1463040"/>
            <a:ext cx="1920240" cy="822960"/>
          </a:xfrm>
          <a:prstGeom prst="chevron">
            <a:avLst/>
          </a:prstGeom>
          <a:solidFill>
            <a:schemeClr val="tx2"/>
          </a:solidFill>
          <a:ln w="12700">
            <a:solidFill>
              <a:schemeClr val="bg1"/>
            </a:solidFill>
            <a:prstDash val="solid"/>
          </a:ln>
        </p:spPr>
      </p:sp>
      <p:sp>
        <p:nvSpPr>
          <p:cNvPr id="20" name="chev5-text"/>
          <p:cNvSpPr txBox="1"/>
          <p:nvPr/>
        </p:nvSpPr>
        <p:spPr>
          <a:xfrm>
            <a:off x="10149840" y="1463040"/>
            <a:ext cx="1508760" cy="822960"/>
          </a:xfrm>
          <a:prstGeom prst="rect">
            <a:avLst/>
          </a:prstGeom>
          <a:noFill/>
          <a:ln/>
        </p:spPr>
        <p:txBody>
          <a:bodyPr wrap="square" lIns="0" tIns="0" rIns="0" bIns="0" rtlCol="0" anchor="ctr"/>
          <a:lstStyle/>
          <a:p>
            <a:pPr algn="ctr" indent="0" marL="0">
              <a:buNone/>
            </a:pPr>
            <a:r>
              <a:rPr lang="en-US" sz="1400" b="1" dirty="0">
                <a:solidFill>
                  <a:schemeClr val="bg1"/>
                </a:solidFill>
              </a:rPr>
              <a:t>Promote</a:t>
            </a:r>
            <a:endParaRPr lang="en-US" sz="1400" dirty="0"/>
          </a:p>
        </p:txBody>
      </p:sp>
      <p:sp>
        <p:nvSpPr>
          <p:cNvPr id="21" name="chev5-sub"/>
          <p:cNvSpPr txBox="1"/>
          <p:nvPr/>
        </p:nvSpPr>
        <p:spPr>
          <a:xfrm>
            <a:off x="9921240" y="2377440"/>
            <a:ext cx="1828800" cy="822960"/>
          </a:xfrm>
          <a:prstGeom prst="rect">
            <a:avLst/>
          </a:prstGeom>
          <a:noFill/>
          <a:ln/>
        </p:spPr>
        <p:txBody>
          <a:bodyPr wrap="square" lIns="0" tIns="0" rIns="0" bIns="0" rtlCol="0" anchor="t"/>
          <a:lstStyle/>
          <a:p>
            <a:pPr algn="ctr" indent="0" marL="0">
              <a:buNone/>
            </a:pPr>
            <a:r>
              <a:rPr lang="en-US" sz="1200" dirty="0">
                <a:solidFill>
                  <a:srgbClr val="64748B"/>
                </a:solidFill>
              </a:rPr>
              <a:t>SHA committed to</a:t>
            </a:r>
            <a:endParaRPr lang="en-US" sz="1200" dirty="0"/>
          </a:p>
          <a:p>
            <a:pPr algn="ctr" indent="0" marL="0">
              <a:buNone/>
            </a:pPr>
            <a:r>
              <a:rPr lang="en-US" sz="1200" dirty="0">
                <a:solidFill>
                  <a:srgbClr val="64748B"/>
                </a:solidFill>
              </a:rPr>
              <a:t>gitops/ → Argo CD</a:t>
            </a:r>
            <a:endParaRPr lang="en-US" sz="1200" dirty="0"/>
          </a:p>
        </p:txBody>
      </p:sp>
      <p:sp>
        <p:nvSpPr>
          <p:cNvPr id="22" name="ci-jobs-value"/>
          <p:cNvSpPr txBox="1"/>
          <p:nvPr/>
        </p:nvSpPr>
        <p:spPr>
          <a:xfrm>
            <a:off x="548640" y="3749040"/>
            <a:ext cx="2377440" cy="777240"/>
          </a:xfrm>
          <a:prstGeom prst="rect">
            <a:avLst/>
          </a:prstGeom>
          <a:noFill/>
          <a:ln/>
        </p:spPr>
        <p:txBody>
          <a:bodyPr wrap="square" lIns="0" tIns="0" rIns="0" bIns="0" rtlCol="0" anchor="ctr"/>
          <a:lstStyle/>
          <a:p>
            <a:pPr indent="0" marL="0">
              <a:buNone/>
            </a:pPr>
            <a:r>
              <a:rPr lang="en-US" sz="4400" b="1" dirty="0">
                <a:solidFill>
                  <a:schemeClr val="accent5"/>
                </a:solidFill>
              </a:rPr>
              <a:t>11/11</a:t>
            </a:r>
            <a:endParaRPr lang="en-US" sz="4400" dirty="0"/>
          </a:p>
        </p:txBody>
      </p:sp>
      <p:sp>
        <p:nvSpPr>
          <p:cNvPr id="23" name="ci-jobs-label"/>
          <p:cNvSpPr txBox="1"/>
          <p:nvPr/>
        </p:nvSpPr>
        <p:spPr>
          <a:xfrm>
            <a:off x="548640" y="4526280"/>
            <a:ext cx="2377440" cy="457200"/>
          </a:xfrm>
          <a:prstGeom prst="rect">
            <a:avLst/>
          </a:prstGeom>
          <a:noFill/>
          <a:ln/>
        </p:spPr>
        <p:txBody>
          <a:bodyPr wrap="square" lIns="0" tIns="0" rIns="0" bIns="0" rtlCol="0" anchor="t"/>
          <a:lstStyle/>
          <a:p>
            <a:pPr indent="0" marL="0">
              <a:buNone/>
            </a:pPr>
            <a:r>
              <a:rPr lang="en-US" sz="1300" dirty="0">
                <a:solidFill>
                  <a:srgbClr val="64748B"/>
                </a:solidFill>
              </a:rPr>
              <a:t>jobs green on the first run</a:t>
            </a:r>
            <a:endParaRPr lang="en-US" sz="1300" dirty="0"/>
          </a:p>
        </p:txBody>
      </p:sp>
      <p:sp>
        <p:nvSpPr>
          <p:cNvPr id="24" name="ci-time-value"/>
          <p:cNvSpPr txBox="1"/>
          <p:nvPr/>
        </p:nvSpPr>
        <p:spPr>
          <a:xfrm>
            <a:off x="3017520" y="3749040"/>
            <a:ext cx="2377440" cy="777240"/>
          </a:xfrm>
          <a:prstGeom prst="rect">
            <a:avLst/>
          </a:prstGeom>
          <a:noFill/>
          <a:ln/>
        </p:spPr>
        <p:txBody>
          <a:bodyPr wrap="square" lIns="0" tIns="0" rIns="0" bIns="0" rtlCol="0" anchor="ctr"/>
          <a:lstStyle/>
          <a:p>
            <a:pPr indent="0" marL="0">
              <a:buNone/>
            </a:pPr>
            <a:r>
              <a:rPr lang="en-US" sz="4400" b="1" dirty="0">
                <a:solidFill>
                  <a:schemeClr val="accent1"/>
                </a:solidFill>
              </a:rPr>
              <a:t>3m 01s</a:t>
            </a:r>
            <a:endParaRPr lang="en-US" sz="4400" dirty="0"/>
          </a:p>
        </p:txBody>
      </p:sp>
      <p:sp>
        <p:nvSpPr>
          <p:cNvPr id="25" name="ci-time-label"/>
          <p:cNvSpPr txBox="1"/>
          <p:nvPr/>
        </p:nvSpPr>
        <p:spPr>
          <a:xfrm>
            <a:off x="3017520" y="4526280"/>
            <a:ext cx="2377440" cy="457200"/>
          </a:xfrm>
          <a:prstGeom prst="rect">
            <a:avLst/>
          </a:prstGeom>
          <a:noFill/>
          <a:ln/>
        </p:spPr>
        <p:txBody>
          <a:bodyPr wrap="square" lIns="0" tIns="0" rIns="0" bIns="0" rtlCol="0" anchor="t"/>
          <a:lstStyle/>
          <a:p>
            <a:pPr indent="0" marL="0">
              <a:buNone/>
            </a:pPr>
            <a:r>
              <a:rPr lang="en-US" sz="1300" dirty="0">
                <a:solidFill>
                  <a:srgbClr val="64748B"/>
                </a:solidFill>
              </a:rPr>
              <a:t>from push to promoted image</a:t>
            </a:r>
            <a:endParaRPr lang="en-US" sz="1300" dirty="0"/>
          </a:p>
        </p:txBody>
      </p:sp>
      <p:sp>
        <p:nvSpPr>
          <p:cNvPr id="26" name="ci-secrets-value"/>
          <p:cNvSpPr txBox="1"/>
          <p:nvPr/>
        </p:nvSpPr>
        <p:spPr>
          <a:xfrm>
            <a:off x="5486400" y="3749040"/>
            <a:ext cx="2194560" cy="777240"/>
          </a:xfrm>
          <a:prstGeom prst="rect">
            <a:avLst/>
          </a:prstGeom>
          <a:noFill/>
          <a:ln/>
        </p:spPr>
        <p:txBody>
          <a:bodyPr wrap="square" lIns="0" tIns="0" rIns="0" bIns="0" rtlCol="0" anchor="ctr"/>
          <a:lstStyle/>
          <a:p>
            <a:pPr indent="0" marL="0">
              <a:buNone/>
            </a:pPr>
            <a:r>
              <a:rPr lang="en-US" sz="4400" b="1" dirty="0">
                <a:solidFill>
                  <a:schemeClr val="tx2"/>
                </a:solidFill>
              </a:rPr>
              <a:t>0</a:t>
            </a:r>
            <a:endParaRPr lang="en-US" sz="4400" dirty="0"/>
          </a:p>
        </p:txBody>
      </p:sp>
      <p:sp>
        <p:nvSpPr>
          <p:cNvPr id="27" name="ci-secrets-label"/>
          <p:cNvSpPr txBox="1"/>
          <p:nvPr/>
        </p:nvSpPr>
        <p:spPr>
          <a:xfrm>
            <a:off x="5486400" y="4526280"/>
            <a:ext cx="2194560" cy="457200"/>
          </a:xfrm>
          <a:prstGeom prst="rect">
            <a:avLst/>
          </a:prstGeom>
          <a:noFill/>
          <a:ln/>
        </p:spPr>
        <p:txBody>
          <a:bodyPr wrap="square" lIns="0" tIns="0" rIns="0" bIns="0" rtlCol="0" anchor="t"/>
          <a:lstStyle/>
          <a:p>
            <a:pPr indent="0" marL="0">
              <a:buNone/>
            </a:pPr>
            <a:r>
              <a:rPr lang="en-US" sz="1300" dirty="0">
                <a:solidFill>
                  <a:srgbClr val="64748B"/>
                </a:solidFill>
              </a:rPr>
              <a:t>registry passwords stored (GITHUB_TOKEN)</a:t>
            </a:r>
            <a:endParaRPr lang="en-US" sz="1300" dirty="0"/>
          </a:p>
        </p:txBody>
      </p:sp>
      <p:sp>
        <p:nvSpPr>
          <p:cNvPr id="28" name="ci-image-ref"/>
          <p:cNvSpPr txBox="1"/>
          <p:nvPr/>
        </p:nvSpPr>
        <p:spPr>
          <a:xfrm>
            <a:off x="548640" y="5349240"/>
            <a:ext cx="7132320" cy="365760"/>
          </a:xfrm>
          <a:prstGeom prst="rect">
            <a:avLst/>
          </a:prstGeom>
          <a:noFill/>
          <a:ln/>
        </p:spPr>
        <p:txBody>
          <a:bodyPr wrap="square" lIns="0" tIns="0" rIns="0" bIns="0" rtlCol="0" anchor="ctr"/>
          <a:lstStyle/>
          <a:p>
            <a:pPr indent="0" marL="0">
              <a:buNone/>
            </a:pPr>
            <a:r>
              <a:rPr lang="en-US" sz="1400" dirty="0">
                <a:solidFill>
                  <a:schemeClr val="accent1"/>
                </a:solidFill>
                <a:latin typeface="Courier New" pitchFamily="34" charset="0"/>
                <a:ea typeface="Courier New" pitchFamily="34" charset="-122"/>
                <a:cs typeface="Courier New" pitchFamily="34" charset="-120"/>
              </a:rPr>
              <a:t>ghcr.io/rajprakash681/clinicflow-backend:8baee138a443…</a:t>
            </a:r>
            <a:endParaRPr lang="en-US" sz="1400" dirty="0"/>
          </a:p>
        </p:txBody>
      </p:sp>
      <p:sp>
        <p:nvSpPr>
          <p:cNvPr id="29" name="ci-note"/>
          <p:cNvSpPr/>
          <p:nvPr/>
        </p:nvSpPr>
        <p:spPr>
          <a:xfrm>
            <a:off x="7909560" y="3429000"/>
            <a:ext cx="3703320" cy="2734056"/>
          </a:xfrm>
          <a:prstGeom prst="roundRect">
            <a:avLst>
              <a:gd name="adj" fmla="val 2676"/>
            </a:avLst>
          </a:prstGeom>
          <a:solidFill>
            <a:srgbClr val="ECFDF5"/>
          </a:solidFill>
          <a:ln w="12700">
            <a:solidFill>
              <a:srgbClr val="ECFDF5"/>
            </a:solidFill>
            <a:prstDash val="solid"/>
          </a:ln>
        </p:spPr>
      </p:sp>
      <p:sp>
        <p:nvSpPr>
          <p:cNvPr id="30" name="ci-note-text"/>
          <p:cNvSpPr txBox="1"/>
          <p:nvPr/>
        </p:nvSpPr>
        <p:spPr>
          <a:xfrm>
            <a:off x="8138160" y="3611880"/>
            <a:ext cx="3291840" cy="2377440"/>
          </a:xfrm>
          <a:prstGeom prst="rect">
            <a:avLst/>
          </a:prstGeom>
          <a:noFill/>
          <a:ln/>
        </p:spPr>
        <p:txBody>
          <a:bodyPr wrap="square" lIns="0" tIns="0" rIns="0" bIns="0" rtlCol="0" anchor="t"/>
          <a:lstStyle/>
          <a:p>
            <a:pPr indent="0" marL="0">
              <a:buNone/>
            </a:pPr>
            <a:r>
              <a:rPr lang="en-US" sz="1700" b="1" dirty="0">
                <a:solidFill>
                  <a:schemeClr val="accent1"/>
                </a:solidFill>
              </a:rPr>
              <a:t>Why SHA tags</a:t>
            </a:r>
            <a:endParaRPr lang="en-US" sz="1700" dirty="0"/>
          </a:p>
          <a:p>
            <a:pPr indent="0" marL="0">
              <a:buNone/>
            </a:pPr>
            <a:r>
              <a:rPr lang="en-US" sz="1400" dirty="0">
                <a:solidFill>
                  <a:schemeClr val="tx1"/>
                </a:solidFill>
              </a:rPr>
              <a:t>Every image traces back to its commit; nothing is ever "latest".</a:t>
            </a:r>
            <a:endParaRPr lang="en-US" sz="1700" dirty="0"/>
          </a:p>
          <a:p>
            <a:pPr indent="0" marL="0">
              <a:buNone/>
            </a:pPr>
            <a:r>
              <a:rPr lang="en-US" sz="800" dirty="0">
                <a:solidFill>
                  <a:schemeClr val="tx1"/>
                </a:solidFill>
              </a:rPr>
              <a:t> </a:t>
            </a:r>
            <a:endParaRPr lang="en-US" sz="1700" dirty="0"/>
          </a:p>
          <a:p>
            <a:pPr indent="0" marL="0">
              <a:buNone/>
            </a:pPr>
            <a:r>
              <a:rPr lang="en-US" sz="1700" b="1" dirty="0">
                <a:solidFill>
                  <a:schemeClr val="accent1"/>
                </a:solidFill>
              </a:rPr>
              <a:t>Scan what you ship</a:t>
            </a:r>
            <a:endParaRPr lang="en-US" sz="1700" dirty="0"/>
          </a:p>
          <a:p>
            <a:pPr indent="0" marL="0">
              <a:buNone/>
            </a:pPr>
            <a:r>
              <a:rPr lang="en-US" sz="1400" dirty="0">
                <a:solidFill>
                  <a:schemeClr val="tx1"/>
                </a:solidFill>
              </a:rPr>
              <a:t>The image is saved after the scan and pushed unchanged, so no rebuild can slip in.</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DevSecOps: the gate blocked a real CVE</a:t>
            </a:r>
            <a:endParaRPr lang="en-US" sz="3400" dirty="0"/>
          </a:p>
        </p:txBody>
      </p:sp>
      <p:sp>
        <p:nvSpPr>
          <p:cNvPr id="4" name="sec0-circle"/>
          <p:cNvSpPr/>
          <p:nvPr/>
        </p:nvSpPr>
        <p:spPr>
          <a:xfrm>
            <a:off x="548640" y="1371600"/>
            <a:ext cx="566928" cy="566928"/>
          </a:xfrm>
          <a:prstGeom prst="ellipse">
            <a:avLst/>
          </a:prstGeom>
          <a:solidFill>
            <a:schemeClr val="accent1"/>
          </a:solidFill>
          <a:ln w="12700">
            <a:solidFill>
              <a:schemeClr val="accent1"/>
            </a:solidFill>
            <a:prstDash val="solid"/>
          </a:ln>
        </p:spPr>
      </p:sp>
      <p:pic>
        <p:nvPicPr>
          <p:cNvPr id="5" name="sec0-icon" descr="preencoded.png">    </p:cNvPr>
          <p:cNvPicPr>
            <a:picLocks noChangeAspect="1"/>
          </p:cNvPicPr>
          <p:nvPr/>
        </p:nvPicPr>
        <p:blipFill>
          <a:blip r:embed="rId1"/>
          <a:stretch>
            <a:fillRect/>
          </a:stretch>
        </p:blipFill>
        <p:spPr>
          <a:xfrm>
            <a:off x="690372" y="1513332"/>
            <a:ext cx="283464" cy="283464"/>
          </a:xfrm>
          <a:prstGeom prst="rect">
            <a:avLst/>
          </a:prstGeom>
        </p:spPr>
      </p:pic>
      <p:sp>
        <p:nvSpPr>
          <p:cNvPr id="6" name="sec0-head"/>
          <p:cNvSpPr txBox="1"/>
          <p:nvPr/>
        </p:nvSpPr>
        <p:spPr>
          <a:xfrm>
            <a:off x="1280160" y="1371600"/>
            <a:ext cx="4023360" cy="292608"/>
          </a:xfrm>
          <a:prstGeom prst="rect">
            <a:avLst/>
          </a:prstGeom>
          <a:noFill/>
          <a:ln/>
        </p:spPr>
        <p:txBody>
          <a:bodyPr wrap="square" lIns="0" tIns="0" rIns="0" bIns="0" rtlCol="0" anchor="ctr"/>
          <a:lstStyle/>
          <a:p>
            <a:pPr indent="0" marL="0">
              <a:buNone/>
            </a:pPr>
            <a:r>
              <a:rPr lang="en-US" sz="1600" b="1" dirty="0">
                <a:solidFill>
                  <a:schemeClr val="tx1"/>
                </a:solidFill>
              </a:rPr>
              <a:t>Gitleaks</a:t>
            </a:r>
            <a:endParaRPr lang="en-US" sz="1600" dirty="0"/>
          </a:p>
        </p:txBody>
      </p:sp>
      <p:sp>
        <p:nvSpPr>
          <p:cNvPr id="7" name="sec0-sub"/>
          <p:cNvSpPr txBox="1"/>
          <p:nvPr/>
        </p:nvSpPr>
        <p:spPr>
          <a:xfrm>
            <a:off x="1280160" y="1664208"/>
            <a:ext cx="4023360" cy="292608"/>
          </a:xfrm>
          <a:prstGeom prst="rect">
            <a:avLst/>
          </a:prstGeom>
          <a:noFill/>
          <a:ln/>
        </p:spPr>
        <p:txBody>
          <a:bodyPr wrap="square" lIns="0" tIns="0" rIns="0" bIns="0" rtlCol="0" anchor="ctr"/>
          <a:lstStyle/>
          <a:p>
            <a:pPr indent="0" marL="0">
              <a:buNone/>
            </a:pPr>
            <a:r>
              <a:rPr lang="en-US" sz="1300" dirty="0">
                <a:solidFill>
                  <a:srgbClr val="64748B"/>
                </a:solidFill>
              </a:rPr>
              <a:t>whole Git history, no credentials</a:t>
            </a:r>
            <a:endParaRPr lang="en-US" sz="1300" dirty="0"/>
          </a:p>
        </p:txBody>
      </p:sp>
      <p:sp>
        <p:nvSpPr>
          <p:cNvPr id="8" name="sec1-circle"/>
          <p:cNvSpPr/>
          <p:nvPr/>
        </p:nvSpPr>
        <p:spPr>
          <a:xfrm>
            <a:off x="548640" y="2304288"/>
            <a:ext cx="566928" cy="566928"/>
          </a:xfrm>
          <a:prstGeom prst="ellipse">
            <a:avLst/>
          </a:prstGeom>
          <a:solidFill>
            <a:schemeClr val="accent1"/>
          </a:solidFill>
          <a:ln w="12700">
            <a:solidFill>
              <a:schemeClr val="accent1"/>
            </a:solidFill>
            <a:prstDash val="solid"/>
          </a:ln>
        </p:spPr>
      </p:sp>
      <p:pic>
        <p:nvPicPr>
          <p:cNvPr id="9" name="sec1-icon" descr="preencoded.png">    </p:cNvPr>
          <p:cNvPicPr>
            <a:picLocks noChangeAspect="1"/>
          </p:cNvPicPr>
          <p:nvPr/>
        </p:nvPicPr>
        <p:blipFill>
          <a:blip r:embed="rId2"/>
          <a:stretch>
            <a:fillRect/>
          </a:stretch>
        </p:blipFill>
        <p:spPr>
          <a:xfrm>
            <a:off x="690372" y="2446020"/>
            <a:ext cx="283464" cy="283464"/>
          </a:xfrm>
          <a:prstGeom prst="rect">
            <a:avLst/>
          </a:prstGeom>
        </p:spPr>
      </p:pic>
      <p:sp>
        <p:nvSpPr>
          <p:cNvPr id="10" name="sec1-head"/>
          <p:cNvSpPr txBox="1"/>
          <p:nvPr/>
        </p:nvSpPr>
        <p:spPr>
          <a:xfrm>
            <a:off x="1280160" y="2304288"/>
            <a:ext cx="4023360" cy="292608"/>
          </a:xfrm>
          <a:prstGeom prst="rect">
            <a:avLst/>
          </a:prstGeom>
          <a:noFill/>
          <a:ln/>
        </p:spPr>
        <p:txBody>
          <a:bodyPr wrap="square" lIns="0" tIns="0" rIns="0" bIns="0" rtlCol="0" anchor="ctr"/>
          <a:lstStyle/>
          <a:p>
            <a:pPr indent="0" marL="0">
              <a:buNone/>
            </a:pPr>
            <a:r>
              <a:rPr lang="en-US" sz="1600" b="1" dirty="0">
                <a:solidFill>
                  <a:schemeClr val="tx1"/>
                </a:solidFill>
              </a:rPr>
              <a:t>Bandit + npm audit</a:t>
            </a:r>
            <a:endParaRPr lang="en-US" sz="1600" dirty="0"/>
          </a:p>
        </p:txBody>
      </p:sp>
      <p:sp>
        <p:nvSpPr>
          <p:cNvPr id="11" name="sec1-sub"/>
          <p:cNvSpPr txBox="1"/>
          <p:nvPr/>
        </p:nvSpPr>
        <p:spPr>
          <a:xfrm>
            <a:off x="1280160" y="2596896"/>
            <a:ext cx="4023360" cy="292608"/>
          </a:xfrm>
          <a:prstGeom prst="rect">
            <a:avLst/>
          </a:prstGeom>
          <a:noFill/>
          <a:ln/>
        </p:spPr>
        <p:txBody>
          <a:bodyPr wrap="square" lIns="0" tIns="0" rIns="0" bIns="0" rtlCol="0" anchor="ctr"/>
          <a:lstStyle/>
          <a:p>
            <a:pPr indent="0" marL="0">
              <a:buNone/>
            </a:pPr>
            <a:r>
              <a:rPr lang="en-US" sz="1300" dirty="0">
                <a:solidFill>
                  <a:srgbClr val="64748B"/>
                </a:solidFill>
              </a:rPr>
              <a:t>Python SAST, dependency CVEs</a:t>
            </a:r>
            <a:endParaRPr lang="en-US" sz="1300" dirty="0"/>
          </a:p>
        </p:txBody>
      </p:sp>
      <p:sp>
        <p:nvSpPr>
          <p:cNvPr id="12" name="sec2-circle"/>
          <p:cNvSpPr/>
          <p:nvPr/>
        </p:nvSpPr>
        <p:spPr>
          <a:xfrm>
            <a:off x="548640" y="3236976"/>
            <a:ext cx="566928" cy="566928"/>
          </a:xfrm>
          <a:prstGeom prst="ellipse">
            <a:avLst/>
          </a:prstGeom>
          <a:solidFill>
            <a:schemeClr val="accent3"/>
          </a:solidFill>
          <a:ln w="12700">
            <a:solidFill>
              <a:schemeClr val="accent3"/>
            </a:solidFill>
            <a:prstDash val="solid"/>
          </a:ln>
        </p:spPr>
      </p:sp>
      <p:pic>
        <p:nvPicPr>
          <p:cNvPr id="13" name="sec2-icon" descr="preencoded.png">    </p:cNvPr>
          <p:cNvPicPr>
            <a:picLocks noChangeAspect="1"/>
          </p:cNvPicPr>
          <p:nvPr/>
        </p:nvPicPr>
        <p:blipFill>
          <a:blip r:embed="rId3"/>
          <a:stretch>
            <a:fillRect/>
          </a:stretch>
        </p:blipFill>
        <p:spPr>
          <a:xfrm>
            <a:off x="690372" y="3378708"/>
            <a:ext cx="283464" cy="283464"/>
          </a:xfrm>
          <a:prstGeom prst="rect">
            <a:avLst/>
          </a:prstGeom>
        </p:spPr>
      </p:pic>
      <p:sp>
        <p:nvSpPr>
          <p:cNvPr id="14" name="sec2-head"/>
          <p:cNvSpPr txBox="1"/>
          <p:nvPr/>
        </p:nvSpPr>
        <p:spPr>
          <a:xfrm>
            <a:off x="1280160" y="3236976"/>
            <a:ext cx="4023360" cy="292608"/>
          </a:xfrm>
          <a:prstGeom prst="rect">
            <a:avLst/>
          </a:prstGeom>
          <a:noFill/>
          <a:ln/>
        </p:spPr>
        <p:txBody>
          <a:bodyPr wrap="square" lIns="0" tIns="0" rIns="0" bIns="0" rtlCol="0" anchor="ctr"/>
          <a:lstStyle/>
          <a:p>
            <a:pPr indent="0" marL="0">
              <a:buNone/>
            </a:pPr>
            <a:r>
              <a:rPr lang="en-US" sz="1600" b="1" dirty="0">
                <a:solidFill>
                  <a:schemeClr val="tx1"/>
                </a:solidFill>
              </a:rPr>
              <a:t>Trivy</a:t>
            </a:r>
            <a:endParaRPr lang="en-US" sz="1600" dirty="0"/>
          </a:p>
        </p:txBody>
      </p:sp>
      <p:sp>
        <p:nvSpPr>
          <p:cNvPr id="15" name="sec2-sub"/>
          <p:cNvSpPr txBox="1"/>
          <p:nvPr/>
        </p:nvSpPr>
        <p:spPr>
          <a:xfrm>
            <a:off x="1280160" y="3529584"/>
            <a:ext cx="4023360" cy="292608"/>
          </a:xfrm>
          <a:prstGeom prst="rect">
            <a:avLst/>
          </a:prstGeom>
          <a:noFill/>
          <a:ln/>
        </p:spPr>
        <p:txBody>
          <a:bodyPr wrap="square" lIns="0" tIns="0" rIns="0" bIns="0" rtlCol="0" anchor="ctr"/>
          <a:lstStyle/>
          <a:p>
            <a:pPr indent="0" marL="0">
              <a:buNone/>
            </a:pPr>
            <a:r>
              <a:rPr lang="en-US" sz="1300" dirty="0">
                <a:solidFill>
                  <a:srgbClr val="64748B"/>
                </a:solidFill>
              </a:rPr>
              <a:t>both images; fixable HIGH/CRITICAL fails</a:t>
            </a:r>
            <a:endParaRPr lang="en-US" sz="1300" dirty="0"/>
          </a:p>
        </p:txBody>
      </p:sp>
      <p:sp>
        <p:nvSpPr>
          <p:cNvPr id="16" name="sec3-circle"/>
          <p:cNvSpPr/>
          <p:nvPr/>
        </p:nvSpPr>
        <p:spPr>
          <a:xfrm>
            <a:off x="548640" y="4169664"/>
            <a:ext cx="566928" cy="566928"/>
          </a:xfrm>
          <a:prstGeom prst="ellipse">
            <a:avLst/>
          </a:prstGeom>
          <a:solidFill>
            <a:schemeClr val="accent1"/>
          </a:solidFill>
          <a:ln w="12700">
            <a:solidFill>
              <a:schemeClr val="accent1"/>
            </a:solidFill>
            <a:prstDash val="solid"/>
          </a:ln>
        </p:spPr>
      </p:sp>
      <p:pic>
        <p:nvPicPr>
          <p:cNvPr id="17" name="sec3-icon" descr="preencoded.png">    </p:cNvPr>
          <p:cNvPicPr>
            <a:picLocks noChangeAspect="1"/>
          </p:cNvPicPr>
          <p:nvPr/>
        </p:nvPicPr>
        <p:blipFill>
          <a:blip r:embed="rId4"/>
          <a:stretch>
            <a:fillRect/>
          </a:stretch>
        </p:blipFill>
        <p:spPr>
          <a:xfrm>
            <a:off x="690372" y="4311396"/>
            <a:ext cx="283464" cy="283464"/>
          </a:xfrm>
          <a:prstGeom prst="rect">
            <a:avLst/>
          </a:prstGeom>
        </p:spPr>
      </p:pic>
      <p:sp>
        <p:nvSpPr>
          <p:cNvPr id="18" name="sec3-head"/>
          <p:cNvSpPr txBox="1"/>
          <p:nvPr/>
        </p:nvSpPr>
        <p:spPr>
          <a:xfrm>
            <a:off x="1280160" y="4169664"/>
            <a:ext cx="4023360" cy="292608"/>
          </a:xfrm>
          <a:prstGeom prst="rect">
            <a:avLst/>
          </a:prstGeom>
          <a:noFill/>
          <a:ln/>
        </p:spPr>
        <p:txBody>
          <a:bodyPr wrap="square" lIns="0" tIns="0" rIns="0" bIns="0" rtlCol="0" anchor="ctr"/>
          <a:lstStyle/>
          <a:p>
            <a:pPr indent="0" marL="0">
              <a:buNone/>
            </a:pPr>
            <a:r>
              <a:rPr lang="en-US" sz="1600" b="1" dirty="0">
                <a:solidFill>
                  <a:schemeClr val="tx1"/>
                </a:solidFill>
              </a:rPr>
              <a:t>Runtime</a:t>
            </a:r>
            <a:endParaRPr lang="en-US" sz="1600" dirty="0"/>
          </a:p>
        </p:txBody>
      </p:sp>
      <p:sp>
        <p:nvSpPr>
          <p:cNvPr id="19" name="sec3-sub"/>
          <p:cNvSpPr txBox="1"/>
          <p:nvPr/>
        </p:nvSpPr>
        <p:spPr>
          <a:xfrm>
            <a:off x="1280160" y="4462272"/>
            <a:ext cx="4023360" cy="292608"/>
          </a:xfrm>
          <a:prstGeom prst="rect">
            <a:avLst/>
          </a:prstGeom>
          <a:noFill/>
          <a:ln/>
        </p:spPr>
        <p:txBody>
          <a:bodyPr wrap="square" lIns="0" tIns="0" rIns="0" bIns="0" rtlCol="0" anchor="ctr"/>
          <a:lstStyle/>
          <a:p>
            <a:pPr indent="0" marL="0">
              <a:buNone/>
            </a:pPr>
            <a:r>
              <a:rPr lang="en-US" sz="1300" dirty="0">
                <a:solidFill>
                  <a:srgbClr val="64748B"/>
                </a:solidFill>
              </a:rPr>
              <a:t>non-root, read-only FS, no capabilities</a:t>
            </a:r>
            <a:endParaRPr lang="en-US" sz="1300" dirty="0"/>
          </a:p>
        </p:txBody>
      </p:sp>
      <p:sp>
        <p:nvSpPr>
          <p:cNvPr id="20" name="sec4-circle"/>
          <p:cNvSpPr/>
          <p:nvPr/>
        </p:nvSpPr>
        <p:spPr>
          <a:xfrm>
            <a:off x="548640" y="5102352"/>
            <a:ext cx="566928" cy="566928"/>
          </a:xfrm>
          <a:prstGeom prst="ellipse">
            <a:avLst/>
          </a:prstGeom>
          <a:solidFill>
            <a:schemeClr val="accent1"/>
          </a:solidFill>
          <a:ln w="12700">
            <a:solidFill>
              <a:schemeClr val="accent1"/>
            </a:solidFill>
            <a:prstDash val="solid"/>
          </a:ln>
        </p:spPr>
      </p:sp>
      <p:pic>
        <p:nvPicPr>
          <p:cNvPr id="21" name="sec4-icon" descr="preencoded.png">    </p:cNvPr>
          <p:cNvPicPr>
            <a:picLocks noChangeAspect="1"/>
          </p:cNvPicPr>
          <p:nvPr/>
        </p:nvPicPr>
        <p:blipFill>
          <a:blip r:embed="rId5"/>
          <a:stretch>
            <a:fillRect/>
          </a:stretch>
        </p:blipFill>
        <p:spPr>
          <a:xfrm>
            <a:off x="690372" y="5244084"/>
            <a:ext cx="283464" cy="283464"/>
          </a:xfrm>
          <a:prstGeom prst="rect">
            <a:avLst/>
          </a:prstGeom>
        </p:spPr>
      </p:pic>
      <p:sp>
        <p:nvSpPr>
          <p:cNvPr id="22" name="sec4-head"/>
          <p:cNvSpPr txBox="1"/>
          <p:nvPr/>
        </p:nvSpPr>
        <p:spPr>
          <a:xfrm>
            <a:off x="1280160" y="5102352"/>
            <a:ext cx="4023360" cy="292608"/>
          </a:xfrm>
          <a:prstGeom prst="rect">
            <a:avLst/>
          </a:prstGeom>
          <a:noFill/>
          <a:ln/>
        </p:spPr>
        <p:txBody>
          <a:bodyPr wrap="square" lIns="0" tIns="0" rIns="0" bIns="0" rtlCol="0" anchor="ctr"/>
          <a:lstStyle/>
          <a:p>
            <a:pPr indent="0" marL="0">
              <a:buNone/>
            </a:pPr>
            <a:r>
              <a:rPr lang="en-US" sz="1600" b="1" dirty="0">
                <a:solidFill>
                  <a:schemeClr val="tx1"/>
                </a:solidFill>
              </a:rPr>
              <a:t>Admission</a:t>
            </a:r>
            <a:endParaRPr lang="en-US" sz="1600" dirty="0"/>
          </a:p>
        </p:txBody>
      </p:sp>
      <p:sp>
        <p:nvSpPr>
          <p:cNvPr id="23" name="sec4-sub"/>
          <p:cNvSpPr txBox="1"/>
          <p:nvPr/>
        </p:nvSpPr>
        <p:spPr>
          <a:xfrm>
            <a:off x="1280160" y="5394960"/>
            <a:ext cx="4023360" cy="292608"/>
          </a:xfrm>
          <a:prstGeom prst="rect">
            <a:avLst/>
          </a:prstGeom>
          <a:noFill/>
          <a:ln/>
        </p:spPr>
        <p:txBody>
          <a:bodyPr wrap="square" lIns="0" tIns="0" rIns="0" bIns="0" rtlCol="0" anchor="ctr"/>
          <a:lstStyle/>
          <a:p>
            <a:pPr indent="0" marL="0">
              <a:buNone/>
            </a:pPr>
            <a:r>
              <a:rPr lang="en-US" sz="1300" dirty="0">
                <a:solidFill>
                  <a:srgbClr val="64748B"/>
                </a:solidFill>
              </a:rPr>
              <a:t>restricted Pod Security on both namespaces</a:t>
            </a:r>
            <a:endParaRPr lang="en-US" sz="1300" dirty="0"/>
          </a:p>
        </p:txBody>
      </p:sp>
      <p:sp>
        <p:nvSpPr>
          <p:cNvPr id="24" name="cve-card"/>
          <p:cNvSpPr/>
          <p:nvPr/>
        </p:nvSpPr>
        <p:spPr>
          <a:xfrm>
            <a:off x="5760720" y="1371600"/>
            <a:ext cx="5852160" cy="4572000"/>
          </a:xfrm>
          <a:prstGeom prst="roundRect">
            <a:avLst>
              <a:gd name="adj" fmla="val 1600"/>
            </a:avLst>
          </a:prstGeom>
          <a:solidFill>
            <a:srgbClr val="FFF7ED"/>
          </a:solidFill>
          <a:ln w="12700">
            <a:solidFill>
              <a:srgbClr val="FFF7ED"/>
            </a:solidFill>
            <a:prstDash val="solid"/>
          </a:ln>
        </p:spPr>
      </p:sp>
      <p:sp>
        <p:nvSpPr>
          <p:cNvPr id="25" name="cve-id"/>
          <p:cNvSpPr txBox="1"/>
          <p:nvPr/>
        </p:nvSpPr>
        <p:spPr>
          <a:xfrm>
            <a:off x="6035040" y="1554480"/>
            <a:ext cx="5303520" cy="548640"/>
          </a:xfrm>
          <a:prstGeom prst="rect">
            <a:avLst/>
          </a:prstGeom>
          <a:noFill/>
          <a:ln/>
        </p:spPr>
        <p:txBody>
          <a:bodyPr wrap="square" lIns="0" tIns="0" rIns="0" bIns="0" rtlCol="0" anchor="ctr"/>
          <a:lstStyle/>
          <a:p>
            <a:pPr indent="0" marL="0">
              <a:buNone/>
            </a:pPr>
            <a:r>
              <a:rPr lang="en-US" sz="3000" b="1" dirty="0">
                <a:solidFill>
                  <a:srgbClr val="B45309"/>
                </a:solidFill>
              </a:rPr>
              <a:t>CVE-2026-4775</a:t>
            </a:r>
            <a:endParaRPr lang="en-US" sz="3000" dirty="0"/>
          </a:p>
        </p:txBody>
      </p:sp>
      <p:sp>
        <p:nvSpPr>
          <p:cNvPr id="26" name="cve-desc"/>
          <p:cNvSpPr txBox="1"/>
          <p:nvPr/>
        </p:nvSpPr>
        <p:spPr>
          <a:xfrm>
            <a:off x="6035040" y="2103120"/>
            <a:ext cx="5394960" cy="548640"/>
          </a:xfrm>
          <a:prstGeom prst="rect">
            <a:avLst/>
          </a:prstGeom>
          <a:noFill/>
          <a:ln/>
        </p:spPr>
        <p:txBody>
          <a:bodyPr wrap="square" lIns="0" tIns="0" rIns="0" bIns="0" rtlCol="0" anchor="t"/>
          <a:lstStyle/>
          <a:p>
            <a:pPr indent="0" marL="0">
              <a:buNone/>
            </a:pPr>
            <a:r>
              <a:rPr lang="en-US" sz="1400" dirty="0">
                <a:solidFill>
                  <a:schemeClr val="tx1"/>
                </a:solidFill>
              </a:rPr>
              <a:t>HIGH · libtiff 4.7.1 → fixed in 4.7.2 · code execution or DoS via a crafted TIFF</a:t>
            </a:r>
            <a:endParaRPr lang="en-US" sz="1400" dirty="0"/>
          </a:p>
        </p:txBody>
      </p:sp>
      <p:sp>
        <p:nvSpPr>
          <p:cNvPr id="27" name="cve-bullets"/>
          <p:cNvSpPr txBox="1"/>
          <p:nvPr/>
        </p:nvSpPr>
        <p:spPr>
          <a:xfrm>
            <a:off x="6035040" y="2788920"/>
            <a:ext cx="539496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ClinicFlow never reads TIFF: libtiff came in through nginx's image-filter module → libgd</a:t>
            </a:r>
            <a:endParaRPr lang="en-US" sz="1400" dirty="0"/>
          </a:p>
          <a:p>
            <a:pPr marL="342900" indent="-342900">
              <a:spcAft>
                <a:spcPts val="800"/>
              </a:spcAft>
              <a:buSzPct val="100000"/>
              <a:buChar char="•"/>
            </a:pPr>
            <a:r>
              <a:rPr lang="en-US" sz="1400" dirty="0">
                <a:solidFill>
                  <a:schemeClr val="tx1"/>
                </a:solidFill>
              </a:rPr>
              <a:t>The image already ran apk upgrade, but Docker reused a stale cached layer</a:t>
            </a:r>
            <a:endParaRPr lang="en-US" sz="1400" dirty="0"/>
          </a:p>
          <a:p>
            <a:pPr marL="342900" indent="-342900">
              <a:spcAft>
                <a:spcPts val="800"/>
              </a:spcAft>
              <a:buSzPct val="100000"/>
              <a:buChar char="•"/>
            </a:pPr>
            <a:r>
              <a:rPr lang="en-US" sz="1400" dirty="0">
                <a:solidFill>
                  <a:schemeClr val="tx1"/>
                </a:solidFill>
              </a:rPr>
              <a:t>Fix: delete the four nginx modules the app never loads</a:t>
            </a:r>
            <a:endParaRPr lang="en-US" sz="1400" dirty="0"/>
          </a:p>
        </p:txBody>
      </p:sp>
      <p:sp>
        <p:nvSpPr>
          <p:cNvPr id="28" name="cve-gate-value"/>
          <p:cNvSpPr txBox="1"/>
          <p:nvPr/>
        </p:nvSpPr>
        <p:spPr>
          <a:xfrm>
            <a:off x="6035040" y="4572000"/>
            <a:ext cx="2834640" cy="777240"/>
          </a:xfrm>
          <a:prstGeom prst="rect">
            <a:avLst/>
          </a:prstGeom>
          <a:noFill/>
          <a:ln/>
        </p:spPr>
        <p:txBody>
          <a:bodyPr wrap="square" lIns="0" tIns="0" rIns="0" bIns="0" rtlCol="0" anchor="ctr"/>
          <a:lstStyle/>
          <a:p>
            <a:pPr indent="0" marL="0">
              <a:buNone/>
            </a:pPr>
            <a:r>
              <a:rPr lang="en-US" sz="4400" b="1" dirty="0">
                <a:solidFill>
                  <a:srgbClr val="B45309"/>
                </a:solidFill>
              </a:rPr>
              <a:t>exit 1 → 0</a:t>
            </a:r>
            <a:endParaRPr lang="en-US" sz="4400" dirty="0"/>
          </a:p>
        </p:txBody>
      </p:sp>
      <p:sp>
        <p:nvSpPr>
          <p:cNvPr id="29" name="cve-gate-label"/>
          <p:cNvSpPr txBox="1"/>
          <p:nvPr/>
        </p:nvSpPr>
        <p:spPr>
          <a:xfrm>
            <a:off x="6035040" y="5349240"/>
            <a:ext cx="2834640" cy="457200"/>
          </a:xfrm>
          <a:prstGeom prst="rect">
            <a:avLst/>
          </a:prstGeom>
          <a:noFill/>
          <a:ln/>
        </p:spPr>
        <p:txBody>
          <a:bodyPr wrap="square" lIns="0" tIns="0" rIns="0" bIns="0" rtlCol="0" anchor="t"/>
          <a:lstStyle/>
          <a:p>
            <a:pPr indent="0" marL="0">
              <a:buNone/>
            </a:pPr>
            <a:r>
              <a:rPr lang="en-US" sz="1300" dirty="0">
                <a:solidFill>
                  <a:srgbClr val="64748B"/>
                </a:solidFill>
              </a:rPr>
              <a:t>Trivy gate, before vs after</a:t>
            </a:r>
            <a:endParaRPr lang="en-US" sz="1300" dirty="0"/>
          </a:p>
        </p:txBody>
      </p:sp>
      <p:sp>
        <p:nvSpPr>
          <p:cNvPr id="30" name="cve-pkgs-value"/>
          <p:cNvSpPr txBox="1"/>
          <p:nvPr/>
        </p:nvSpPr>
        <p:spPr>
          <a:xfrm>
            <a:off x="8869680" y="4572000"/>
            <a:ext cx="2651760" cy="777240"/>
          </a:xfrm>
          <a:prstGeom prst="rect">
            <a:avLst/>
          </a:prstGeom>
          <a:noFill/>
          <a:ln/>
        </p:spPr>
        <p:txBody>
          <a:bodyPr wrap="square" lIns="0" tIns="0" rIns="0" bIns="0" rtlCol="0" anchor="ctr"/>
          <a:lstStyle/>
          <a:p>
            <a:pPr indent="0" marL="0">
              <a:buNone/>
            </a:pPr>
            <a:r>
              <a:rPr lang="en-US" sz="4400" b="1" dirty="0">
                <a:solidFill>
                  <a:schemeClr val="accent1"/>
                </a:solidFill>
              </a:rPr>
              <a:t>70 → 31</a:t>
            </a:r>
            <a:endParaRPr lang="en-US" sz="4400" dirty="0"/>
          </a:p>
        </p:txBody>
      </p:sp>
      <p:sp>
        <p:nvSpPr>
          <p:cNvPr id="31" name="cve-pkgs-label"/>
          <p:cNvSpPr txBox="1"/>
          <p:nvPr/>
        </p:nvSpPr>
        <p:spPr>
          <a:xfrm>
            <a:off x="8869680" y="5349240"/>
            <a:ext cx="2651760" cy="457200"/>
          </a:xfrm>
          <a:prstGeom prst="rect">
            <a:avLst/>
          </a:prstGeom>
          <a:noFill/>
          <a:ln/>
        </p:spPr>
        <p:txBody>
          <a:bodyPr wrap="square" lIns="0" tIns="0" rIns="0" bIns="0" rtlCol="0" anchor="t"/>
          <a:lstStyle/>
          <a:p>
            <a:pPr indent="0" marL="0">
              <a:buNone/>
            </a:pPr>
            <a:r>
              <a:rPr lang="en-US" sz="1300" dirty="0">
                <a:solidFill>
                  <a:srgbClr val="64748B"/>
                </a:solidFill>
              </a:rPr>
              <a:t>packages in the frontend image</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Infrastructure as code: AWS VPC + EKS</a:t>
            </a:r>
            <a:endParaRPr lang="en-US" sz="3400" dirty="0"/>
          </a:p>
        </p:txBody>
      </p:sp>
      <p:sp>
        <p:nvSpPr>
          <p:cNvPr id="4" name="vpc"/>
          <p:cNvSpPr/>
          <p:nvPr/>
        </p:nvSpPr>
        <p:spPr>
          <a:xfrm>
            <a:off x="548640" y="1371600"/>
            <a:ext cx="6949440" cy="4709160"/>
          </a:xfrm>
          <a:prstGeom prst="roundRect">
            <a:avLst>
              <a:gd name="adj" fmla="val 971"/>
            </a:avLst>
          </a:prstGeom>
          <a:solidFill>
            <a:srgbClr val="F8FAFC"/>
          </a:solidFill>
          <a:ln w="19050">
            <a:solidFill>
              <a:schemeClr val="accent1"/>
            </a:solidFill>
            <a:prstDash val="solid"/>
          </a:ln>
        </p:spPr>
      </p:sp>
      <p:sp>
        <p:nvSpPr>
          <p:cNvPr id="5" name="vpc-label"/>
          <p:cNvSpPr txBox="1"/>
          <p:nvPr/>
        </p:nvSpPr>
        <p:spPr>
          <a:xfrm>
            <a:off x="731520" y="1417320"/>
            <a:ext cx="4114800" cy="365760"/>
          </a:xfrm>
          <a:prstGeom prst="rect">
            <a:avLst/>
          </a:prstGeom>
          <a:noFill/>
          <a:ln/>
        </p:spPr>
        <p:txBody>
          <a:bodyPr wrap="square" lIns="0" tIns="0" rIns="0" bIns="0" rtlCol="0" anchor="ctr"/>
          <a:lstStyle/>
          <a:p>
            <a:pPr indent="0" marL="0">
              <a:buNone/>
            </a:pPr>
            <a:r>
              <a:rPr lang="en-US" sz="1300" b="1" dirty="0">
                <a:solidFill>
                  <a:schemeClr val="accent1"/>
                </a:solidFill>
              </a:rPr>
              <a:t>VPC 10.21.0.0/16 · ap-south-1</a:t>
            </a:r>
            <a:endParaRPr lang="en-US" sz="1300" dirty="0"/>
          </a:p>
        </p:txBody>
      </p:sp>
      <p:sp>
        <p:nvSpPr>
          <p:cNvPr id="6" name="igw"/>
          <p:cNvSpPr/>
          <p:nvPr/>
        </p:nvSpPr>
        <p:spPr>
          <a:xfrm>
            <a:off x="5394960" y="1481328"/>
            <a:ext cx="1920240" cy="411480"/>
          </a:xfrm>
          <a:prstGeom prst="roundRect">
            <a:avLst>
              <a:gd name="adj" fmla="val 13333"/>
            </a:avLst>
          </a:prstGeom>
          <a:solidFill>
            <a:schemeClr val="bg1"/>
          </a:solidFill>
          <a:ln w="15875">
            <a:solidFill>
              <a:schemeClr val="accent1"/>
            </a:solidFill>
            <a:prstDash val="solid"/>
          </a:ln>
        </p:spPr>
      </p:sp>
      <p:sp>
        <p:nvSpPr>
          <p:cNvPr id="7" name="igw-text"/>
          <p:cNvSpPr txBox="1"/>
          <p:nvPr/>
        </p:nvSpPr>
        <p:spPr>
          <a:xfrm>
            <a:off x="5394960" y="1481328"/>
            <a:ext cx="1920240" cy="411480"/>
          </a:xfrm>
          <a:prstGeom prst="rect">
            <a:avLst/>
          </a:prstGeom>
          <a:noFill/>
          <a:ln/>
        </p:spPr>
        <p:txBody>
          <a:bodyPr wrap="square" lIns="50800" tIns="50800" rIns="50800" bIns="50800" rtlCol="0" anchor="ctr"/>
          <a:lstStyle/>
          <a:p>
            <a:pPr algn="ctr" indent="0" marL="0">
              <a:buNone/>
            </a:pPr>
            <a:r>
              <a:rPr lang="en-US" sz="1100" dirty="0">
                <a:solidFill>
                  <a:schemeClr val="tx1"/>
                </a:solidFill>
              </a:rPr>
              <a:t>Internet gateway</a:t>
            </a:r>
            <a:endParaRPr lang="en-US" sz="1100" dirty="0"/>
          </a:p>
        </p:txBody>
      </p:sp>
      <p:sp>
        <p:nvSpPr>
          <p:cNvPr id="8" name="az0"/>
          <p:cNvSpPr/>
          <p:nvPr/>
        </p:nvSpPr>
        <p:spPr>
          <a:xfrm>
            <a:off x="777240" y="2057400"/>
            <a:ext cx="3154680" cy="3840480"/>
          </a:xfrm>
          <a:prstGeom prst="roundRect">
            <a:avLst>
              <a:gd name="adj" fmla="val 1159"/>
            </a:avLst>
          </a:prstGeom>
          <a:solidFill>
            <a:schemeClr val="bg1"/>
          </a:solidFill>
          <a:ln w="12700">
            <a:solidFill>
              <a:srgbClr val="CBD5E1"/>
            </a:solidFill>
            <a:prstDash val="dash"/>
          </a:ln>
        </p:spPr>
      </p:sp>
      <p:sp>
        <p:nvSpPr>
          <p:cNvPr id="9" name="az0-label"/>
          <p:cNvSpPr txBox="1"/>
          <p:nvPr/>
        </p:nvSpPr>
        <p:spPr>
          <a:xfrm>
            <a:off x="914400" y="2103120"/>
            <a:ext cx="1828800" cy="274320"/>
          </a:xfrm>
          <a:prstGeom prst="rect">
            <a:avLst/>
          </a:prstGeom>
          <a:noFill/>
          <a:ln/>
        </p:spPr>
        <p:txBody>
          <a:bodyPr wrap="square" lIns="0" tIns="0" rIns="0" bIns="0" rtlCol="0" anchor="ctr"/>
          <a:lstStyle/>
          <a:p>
            <a:pPr indent="0" marL="0">
              <a:buNone/>
            </a:pPr>
            <a:r>
              <a:rPr lang="en-US" sz="1100" i="1" dirty="0">
                <a:solidFill>
                  <a:srgbClr val="64748B"/>
                </a:solidFill>
              </a:rPr>
              <a:t>ap-south-1a</a:t>
            </a:r>
            <a:endParaRPr lang="en-US" sz="1100" dirty="0"/>
          </a:p>
        </p:txBody>
      </p:sp>
      <p:sp>
        <p:nvSpPr>
          <p:cNvPr id="10" name="pub0"/>
          <p:cNvSpPr/>
          <p:nvPr/>
        </p:nvSpPr>
        <p:spPr>
          <a:xfrm>
            <a:off x="960120" y="2468880"/>
            <a:ext cx="2788920" cy="822960"/>
          </a:xfrm>
          <a:prstGeom prst="roundRect">
            <a:avLst>
              <a:gd name="adj" fmla="val 6667"/>
            </a:avLst>
          </a:prstGeom>
          <a:solidFill>
            <a:srgbClr val="ECFDF5"/>
          </a:solidFill>
          <a:ln w="15875">
            <a:solidFill>
              <a:schemeClr val="accent1"/>
            </a:solidFill>
            <a:prstDash val="solid"/>
          </a:ln>
        </p:spPr>
      </p:sp>
      <p:sp>
        <p:nvSpPr>
          <p:cNvPr id="11" name="pub0-text"/>
          <p:cNvSpPr txBox="1"/>
          <p:nvPr/>
        </p:nvSpPr>
        <p:spPr>
          <a:xfrm>
            <a:off x="960120" y="2468880"/>
            <a:ext cx="2788920" cy="822960"/>
          </a:xfrm>
          <a:prstGeom prst="rect">
            <a:avLst/>
          </a:prstGeom>
          <a:noFill/>
          <a:ln/>
        </p:spPr>
        <p:txBody>
          <a:bodyPr wrap="square" lIns="50800" tIns="50800" rIns="50800" bIns="50800" rtlCol="0" anchor="ctr"/>
          <a:lstStyle/>
          <a:p>
            <a:pPr algn="ctr" indent="0" marL="0">
              <a:buNone/>
            </a:pPr>
            <a:r>
              <a:rPr lang="en-US" sz="1200" dirty="0">
                <a:solidFill>
                  <a:schemeClr val="tx1"/>
                </a:solidFill>
              </a:rPr>
              <a:t>public 10.21.0.0/24</a:t>
            </a:r>
            <a:endParaRPr lang="en-US" sz="1200" dirty="0"/>
          </a:p>
          <a:p>
            <a:pPr algn="ctr" indent="0" marL="0">
              <a:buNone/>
            </a:pPr>
            <a:r>
              <a:rPr lang="en-US" sz="1200" dirty="0">
                <a:solidFill>
                  <a:schemeClr val="tx1"/>
                </a:solidFill>
              </a:rPr>
              <a:t>NAT gateway + EIP</a:t>
            </a:r>
            <a:endParaRPr lang="en-US" sz="1200" dirty="0"/>
          </a:p>
        </p:txBody>
      </p:sp>
      <p:sp>
        <p:nvSpPr>
          <p:cNvPr id="12" name="priv0"/>
          <p:cNvSpPr/>
          <p:nvPr/>
        </p:nvSpPr>
        <p:spPr>
          <a:xfrm>
            <a:off x="960120" y="3794760"/>
            <a:ext cx="2788920" cy="822960"/>
          </a:xfrm>
          <a:prstGeom prst="roundRect">
            <a:avLst>
              <a:gd name="adj" fmla="val 6667"/>
            </a:avLst>
          </a:prstGeom>
          <a:solidFill>
            <a:srgbClr val="EFF6FF"/>
          </a:solidFill>
          <a:ln w="15875">
            <a:solidFill>
              <a:schemeClr val="accent4"/>
            </a:solidFill>
            <a:prstDash val="solid"/>
          </a:ln>
        </p:spPr>
      </p:sp>
      <p:sp>
        <p:nvSpPr>
          <p:cNvPr id="13" name="priv0-text"/>
          <p:cNvSpPr txBox="1"/>
          <p:nvPr/>
        </p:nvSpPr>
        <p:spPr>
          <a:xfrm>
            <a:off x="960120" y="3794760"/>
            <a:ext cx="2788920" cy="822960"/>
          </a:xfrm>
          <a:prstGeom prst="rect">
            <a:avLst/>
          </a:prstGeom>
          <a:noFill/>
          <a:ln/>
        </p:spPr>
        <p:txBody>
          <a:bodyPr wrap="square" lIns="50800" tIns="50800" rIns="50800" bIns="50800" rtlCol="0" anchor="ctr"/>
          <a:lstStyle/>
          <a:p>
            <a:pPr algn="ctr" indent="0" marL="0">
              <a:buNone/>
            </a:pPr>
            <a:r>
              <a:rPr lang="en-US" sz="1200" dirty="0">
                <a:solidFill>
                  <a:schemeClr val="tx1"/>
                </a:solidFill>
              </a:rPr>
              <a:t>private 10.21.10.0/24</a:t>
            </a:r>
            <a:endParaRPr lang="en-US" sz="1200" dirty="0"/>
          </a:p>
          <a:p>
            <a:pPr algn="ctr" indent="0" marL="0">
              <a:buNone/>
            </a:pPr>
            <a:r>
              <a:rPr lang="en-US" sz="1200" dirty="0">
                <a:solidFill>
                  <a:schemeClr val="tx1"/>
                </a:solidFill>
              </a:rPr>
              <a:t>EKS node · t3.medium</a:t>
            </a:r>
            <a:endParaRPr lang="en-US" sz="1200" dirty="0"/>
          </a:p>
        </p:txBody>
      </p:sp>
      <p:sp>
        <p:nvSpPr>
          <p:cNvPr id="14" name="az1"/>
          <p:cNvSpPr/>
          <p:nvPr/>
        </p:nvSpPr>
        <p:spPr>
          <a:xfrm>
            <a:off x="4160520" y="2057400"/>
            <a:ext cx="3154680" cy="3840480"/>
          </a:xfrm>
          <a:prstGeom prst="roundRect">
            <a:avLst>
              <a:gd name="adj" fmla="val 1159"/>
            </a:avLst>
          </a:prstGeom>
          <a:solidFill>
            <a:schemeClr val="bg1"/>
          </a:solidFill>
          <a:ln w="12700">
            <a:solidFill>
              <a:srgbClr val="CBD5E1"/>
            </a:solidFill>
            <a:prstDash val="dash"/>
          </a:ln>
        </p:spPr>
      </p:sp>
      <p:sp>
        <p:nvSpPr>
          <p:cNvPr id="15" name="az1-label"/>
          <p:cNvSpPr txBox="1"/>
          <p:nvPr/>
        </p:nvSpPr>
        <p:spPr>
          <a:xfrm>
            <a:off x="4297680" y="2103120"/>
            <a:ext cx="1828800" cy="274320"/>
          </a:xfrm>
          <a:prstGeom prst="rect">
            <a:avLst/>
          </a:prstGeom>
          <a:noFill/>
          <a:ln/>
        </p:spPr>
        <p:txBody>
          <a:bodyPr wrap="square" lIns="0" tIns="0" rIns="0" bIns="0" rtlCol="0" anchor="ctr"/>
          <a:lstStyle/>
          <a:p>
            <a:pPr indent="0" marL="0">
              <a:buNone/>
            </a:pPr>
            <a:r>
              <a:rPr lang="en-US" sz="1100" i="1" dirty="0">
                <a:solidFill>
                  <a:srgbClr val="64748B"/>
                </a:solidFill>
              </a:rPr>
              <a:t>ap-south-1b</a:t>
            </a:r>
            <a:endParaRPr lang="en-US" sz="1100" dirty="0"/>
          </a:p>
        </p:txBody>
      </p:sp>
      <p:sp>
        <p:nvSpPr>
          <p:cNvPr id="16" name="pub1"/>
          <p:cNvSpPr/>
          <p:nvPr/>
        </p:nvSpPr>
        <p:spPr>
          <a:xfrm>
            <a:off x="4343400" y="2468880"/>
            <a:ext cx="2788920" cy="822960"/>
          </a:xfrm>
          <a:prstGeom prst="roundRect">
            <a:avLst>
              <a:gd name="adj" fmla="val 6667"/>
            </a:avLst>
          </a:prstGeom>
          <a:solidFill>
            <a:srgbClr val="ECFDF5"/>
          </a:solidFill>
          <a:ln w="15875">
            <a:solidFill>
              <a:schemeClr val="accent1"/>
            </a:solidFill>
            <a:prstDash val="solid"/>
          </a:ln>
        </p:spPr>
      </p:sp>
      <p:sp>
        <p:nvSpPr>
          <p:cNvPr id="17" name="pub1-text"/>
          <p:cNvSpPr txBox="1"/>
          <p:nvPr/>
        </p:nvSpPr>
        <p:spPr>
          <a:xfrm>
            <a:off x="4343400" y="2468880"/>
            <a:ext cx="2788920" cy="822960"/>
          </a:xfrm>
          <a:prstGeom prst="rect">
            <a:avLst/>
          </a:prstGeom>
          <a:noFill/>
          <a:ln/>
        </p:spPr>
        <p:txBody>
          <a:bodyPr wrap="square" lIns="50800" tIns="50800" rIns="50800" bIns="50800" rtlCol="0" anchor="ctr"/>
          <a:lstStyle/>
          <a:p>
            <a:pPr algn="ctr" indent="0" marL="0">
              <a:buNone/>
            </a:pPr>
            <a:r>
              <a:rPr lang="en-US" sz="1200" dirty="0">
                <a:solidFill>
                  <a:schemeClr val="tx1"/>
                </a:solidFill>
              </a:rPr>
              <a:t>public 10.21.1.0/24</a:t>
            </a:r>
            <a:endParaRPr lang="en-US" sz="1200" dirty="0"/>
          </a:p>
          <a:p>
            <a:pPr algn="ctr" indent="0" marL="0">
              <a:buNone/>
            </a:pPr>
            <a:r>
              <a:rPr lang="en-US" sz="1200" dirty="0">
                <a:solidFill>
                  <a:schemeClr val="tx1"/>
                </a:solidFill>
              </a:rPr>
              <a:t>load balancers</a:t>
            </a:r>
            <a:endParaRPr lang="en-US" sz="1200" dirty="0"/>
          </a:p>
        </p:txBody>
      </p:sp>
      <p:sp>
        <p:nvSpPr>
          <p:cNvPr id="18" name="priv1"/>
          <p:cNvSpPr/>
          <p:nvPr/>
        </p:nvSpPr>
        <p:spPr>
          <a:xfrm>
            <a:off x="4343400" y="3794760"/>
            <a:ext cx="2788920" cy="822960"/>
          </a:xfrm>
          <a:prstGeom prst="roundRect">
            <a:avLst>
              <a:gd name="adj" fmla="val 6667"/>
            </a:avLst>
          </a:prstGeom>
          <a:solidFill>
            <a:srgbClr val="EFF6FF"/>
          </a:solidFill>
          <a:ln w="15875">
            <a:solidFill>
              <a:schemeClr val="accent4"/>
            </a:solidFill>
            <a:prstDash val="solid"/>
          </a:ln>
        </p:spPr>
      </p:sp>
      <p:sp>
        <p:nvSpPr>
          <p:cNvPr id="19" name="priv1-text"/>
          <p:cNvSpPr txBox="1"/>
          <p:nvPr/>
        </p:nvSpPr>
        <p:spPr>
          <a:xfrm>
            <a:off x="4343400" y="3794760"/>
            <a:ext cx="2788920" cy="822960"/>
          </a:xfrm>
          <a:prstGeom prst="rect">
            <a:avLst/>
          </a:prstGeom>
          <a:noFill/>
          <a:ln/>
        </p:spPr>
        <p:txBody>
          <a:bodyPr wrap="square" lIns="50800" tIns="50800" rIns="50800" bIns="50800" rtlCol="0" anchor="ctr"/>
          <a:lstStyle/>
          <a:p>
            <a:pPr algn="ctr" indent="0" marL="0">
              <a:buNone/>
            </a:pPr>
            <a:r>
              <a:rPr lang="en-US" sz="1200" dirty="0">
                <a:solidFill>
                  <a:schemeClr val="tx1"/>
                </a:solidFill>
              </a:rPr>
              <a:t>private 10.21.11.0/24</a:t>
            </a:r>
            <a:endParaRPr lang="en-US" sz="1200" dirty="0"/>
          </a:p>
          <a:p>
            <a:pPr algn="ctr" indent="0" marL="0">
              <a:buNone/>
            </a:pPr>
            <a:r>
              <a:rPr lang="en-US" sz="1200" dirty="0">
                <a:solidFill>
                  <a:schemeClr val="tx1"/>
                </a:solidFill>
              </a:rPr>
              <a:t>EKS node · t3.medium</a:t>
            </a:r>
            <a:endParaRPr lang="en-US" sz="1200" dirty="0"/>
          </a:p>
        </p:txBody>
      </p:sp>
      <p:sp>
        <p:nvSpPr>
          <p:cNvPr id="20" name="eks"/>
          <p:cNvSpPr/>
          <p:nvPr/>
        </p:nvSpPr>
        <p:spPr>
          <a:xfrm>
            <a:off x="960120" y="5074920"/>
            <a:ext cx="6309360" cy="548640"/>
          </a:xfrm>
          <a:prstGeom prst="roundRect">
            <a:avLst>
              <a:gd name="adj" fmla="val 10000"/>
            </a:avLst>
          </a:prstGeom>
          <a:solidFill>
            <a:schemeClr val="tx2"/>
          </a:solidFill>
          <a:ln w="15875">
            <a:solidFill>
              <a:schemeClr val="tx2"/>
            </a:solidFill>
            <a:prstDash val="solid"/>
          </a:ln>
        </p:spPr>
      </p:sp>
      <p:sp>
        <p:nvSpPr>
          <p:cNvPr id="21" name="eks-text"/>
          <p:cNvSpPr txBox="1"/>
          <p:nvPr/>
        </p:nvSpPr>
        <p:spPr>
          <a:xfrm>
            <a:off x="960120" y="5074920"/>
            <a:ext cx="6309360" cy="548640"/>
          </a:xfrm>
          <a:prstGeom prst="rect">
            <a:avLst/>
          </a:prstGeom>
          <a:noFill/>
          <a:ln/>
        </p:spPr>
        <p:txBody>
          <a:bodyPr wrap="square" lIns="50800" tIns="50800" rIns="50800" bIns="50800" rtlCol="0" anchor="ctr"/>
          <a:lstStyle/>
          <a:p>
            <a:pPr algn="ctr" indent="0" marL="0">
              <a:buNone/>
            </a:pPr>
            <a:r>
              <a:rPr lang="en-US" sz="1200" dirty="0">
                <a:solidFill>
                  <a:schemeClr val="bg1"/>
                </a:solidFill>
              </a:rPr>
              <a:t>EKS 1.34 control plane (managed) · node group 1–3 · IAM roles</a:t>
            </a:r>
            <a:endParaRPr lang="en-US" sz="1200" dirty="0"/>
          </a:p>
        </p:txBody>
      </p:sp>
      <p:sp>
        <p:nvSpPr>
          <p:cNvPr id="22" name="tf-res-value"/>
          <p:cNvSpPr txBox="1"/>
          <p:nvPr/>
        </p:nvSpPr>
        <p:spPr>
          <a:xfrm>
            <a:off x="7863840" y="1371600"/>
            <a:ext cx="1828800" cy="777240"/>
          </a:xfrm>
          <a:prstGeom prst="rect">
            <a:avLst/>
          </a:prstGeom>
          <a:noFill/>
          <a:ln/>
        </p:spPr>
        <p:txBody>
          <a:bodyPr wrap="square" lIns="0" tIns="0" rIns="0" bIns="0" rtlCol="0" anchor="ctr"/>
          <a:lstStyle/>
          <a:p>
            <a:pPr indent="0" marL="0">
              <a:buNone/>
            </a:pPr>
            <a:r>
              <a:rPr lang="en-US" sz="4400" b="1" dirty="0">
                <a:solidFill>
                  <a:schemeClr val="accent1"/>
                </a:solidFill>
              </a:rPr>
              <a:t>23</a:t>
            </a:r>
            <a:endParaRPr lang="en-US" sz="4400" dirty="0"/>
          </a:p>
        </p:txBody>
      </p:sp>
      <p:sp>
        <p:nvSpPr>
          <p:cNvPr id="23" name="tf-res-label"/>
          <p:cNvSpPr txBox="1"/>
          <p:nvPr/>
        </p:nvSpPr>
        <p:spPr>
          <a:xfrm>
            <a:off x="7863840" y="2148840"/>
            <a:ext cx="1828800" cy="457200"/>
          </a:xfrm>
          <a:prstGeom prst="rect">
            <a:avLst/>
          </a:prstGeom>
          <a:noFill/>
          <a:ln/>
        </p:spPr>
        <p:txBody>
          <a:bodyPr wrap="square" lIns="0" tIns="0" rIns="0" bIns="0" rtlCol="0" anchor="t"/>
          <a:lstStyle/>
          <a:p>
            <a:pPr indent="0" marL="0">
              <a:buNone/>
            </a:pPr>
            <a:r>
              <a:rPr lang="en-US" sz="1300" dirty="0">
                <a:solidFill>
                  <a:srgbClr val="64748B"/>
                </a:solidFill>
              </a:rPr>
              <a:t>resources in the plan</a:t>
            </a:r>
            <a:endParaRPr lang="en-US" sz="1300" dirty="0"/>
          </a:p>
        </p:txBody>
      </p:sp>
      <p:sp>
        <p:nvSpPr>
          <p:cNvPr id="24" name="tf-left-value"/>
          <p:cNvSpPr txBox="1"/>
          <p:nvPr/>
        </p:nvSpPr>
        <p:spPr>
          <a:xfrm>
            <a:off x="9784080" y="1371600"/>
            <a:ext cx="1828800" cy="777240"/>
          </a:xfrm>
          <a:prstGeom prst="rect">
            <a:avLst/>
          </a:prstGeom>
          <a:noFill/>
          <a:ln/>
        </p:spPr>
        <p:txBody>
          <a:bodyPr wrap="square" lIns="0" tIns="0" rIns="0" bIns="0" rtlCol="0" anchor="ctr"/>
          <a:lstStyle/>
          <a:p>
            <a:pPr indent="0" marL="0">
              <a:buNone/>
            </a:pPr>
            <a:r>
              <a:rPr lang="en-US" sz="4400" b="1" dirty="0">
                <a:solidFill>
                  <a:schemeClr val="accent5"/>
                </a:solidFill>
              </a:rPr>
              <a:t>0</a:t>
            </a:r>
            <a:endParaRPr lang="en-US" sz="4400" dirty="0"/>
          </a:p>
        </p:txBody>
      </p:sp>
      <p:sp>
        <p:nvSpPr>
          <p:cNvPr id="25" name="tf-left-label"/>
          <p:cNvSpPr txBox="1"/>
          <p:nvPr/>
        </p:nvSpPr>
        <p:spPr>
          <a:xfrm>
            <a:off x="9784080" y="2148840"/>
            <a:ext cx="1828800" cy="457200"/>
          </a:xfrm>
          <a:prstGeom prst="rect">
            <a:avLst/>
          </a:prstGeom>
          <a:noFill/>
          <a:ln/>
        </p:spPr>
        <p:txBody>
          <a:bodyPr wrap="square" lIns="0" tIns="0" rIns="0" bIns="0" rtlCol="0" anchor="t"/>
          <a:lstStyle/>
          <a:p>
            <a:pPr indent="0" marL="0">
              <a:buNone/>
            </a:pPr>
            <a:r>
              <a:rPr lang="en-US" sz="1300" dirty="0">
                <a:solidFill>
                  <a:srgbClr val="64748B"/>
                </a:solidFill>
              </a:rPr>
              <a:t>left after destroy</a:t>
            </a:r>
            <a:endParaRPr lang="en-US" sz="1300" dirty="0"/>
          </a:p>
        </p:txBody>
      </p:sp>
      <p:sp>
        <p:nvSpPr>
          <p:cNvPr id="26" name="tf-bullets"/>
          <p:cNvSpPr txBox="1"/>
          <p:nvPr/>
        </p:nvSpPr>
        <p:spPr>
          <a:xfrm>
            <a:off x="7863840" y="2743200"/>
            <a:ext cx="37490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Plain resources, no modules: every object is visible in main.tf</a:t>
            </a:r>
            <a:endParaRPr lang="en-US" sz="1400" dirty="0"/>
          </a:p>
          <a:p>
            <a:pPr marL="342900" indent="-342900">
              <a:spcAft>
                <a:spcPts val="800"/>
              </a:spcAft>
              <a:buSzPct val="100000"/>
              <a:buChar char="•"/>
            </a:pPr>
            <a:r>
              <a:rPr lang="en-US" sz="1400" dirty="0">
                <a:solidFill>
                  <a:schemeClr val="tx1"/>
                </a:solidFill>
              </a:rPr>
              <a:t>Credentials from aws configure; only tfvars.example is committed</a:t>
            </a:r>
            <a:endParaRPr lang="en-US" sz="1400" dirty="0"/>
          </a:p>
          <a:p>
            <a:pPr marL="342900" indent="-342900">
              <a:spcAft>
                <a:spcPts val="800"/>
              </a:spcAft>
              <a:buSzPct val="100000"/>
              <a:buChar char="•"/>
            </a:pPr>
            <a:r>
              <a:rPr lang="en-US" sz="1400" dirty="0">
                <a:solidFill>
                  <a:schemeClr val="tx1"/>
                </a:solidFill>
              </a:rPr>
              <a:t>Cost: one NAT for both AZs; enable_nat_gateway=false if no spare EIP</a:t>
            </a:r>
            <a:endParaRPr lang="en-US" sz="1400" dirty="0"/>
          </a:p>
        </p:txBody>
      </p:sp>
      <p:sp>
        <p:nvSpPr>
          <p:cNvPr id="27" name="tf-honest"/>
          <p:cNvSpPr/>
          <p:nvPr/>
        </p:nvSpPr>
        <p:spPr>
          <a:xfrm>
            <a:off x="7863840" y="4800600"/>
            <a:ext cx="3749040" cy="1280160"/>
          </a:xfrm>
          <a:prstGeom prst="roundRect">
            <a:avLst>
              <a:gd name="adj" fmla="val 5714"/>
            </a:avLst>
          </a:prstGeom>
          <a:solidFill>
            <a:srgbClr val="FFF7ED"/>
          </a:solidFill>
          <a:ln w="12700">
            <a:solidFill>
              <a:srgbClr val="FFF7ED"/>
            </a:solidFill>
            <a:prstDash val="solid"/>
          </a:ln>
        </p:spPr>
      </p:sp>
      <p:sp>
        <p:nvSpPr>
          <p:cNvPr id="28" name="tf-honest-text"/>
          <p:cNvSpPr txBox="1"/>
          <p:nvPr/>
        </p:nvSpPr>
        <p:spPr>
          <a:xfrm>
            <a:off x="8046720" y="4892040"/>
            <a:ext cx="3429000" cy="1097280"/>
          </a:xfrm>
          <a:prstGeom prst="rect">
            <a:avLst/>
          </a:prstGeom>
          <a:noFill/>
          <a:ln/>
        </p:spPr>
        <p:txBody>
          <a:bodyPr wrap="square" lIns="0" tIns="0" rIns="0" bIns="0" rtlCol="0" anchor="ctr"/>
          <a:lstStyle/>
          <a:p>
            <a:pPr indent="0" marL="0">
              <a:buNone/>
            </a:pPr>
            <a:r>
              <a:rPr lang="en-US" sz="1250" dirty="0">
                <a:solidFill>
                  <a:srgbClr val="92400E"/>
                </a:solidFill>
              </a:rPr>
              <a:t>Honest scope: no AWS account, so init / plan / apply / destroy ran against the moto emulator. Same code; real AWS needs only credentials.</a:t>
            </a:r>
            <a:endParaRPr lang="en-US" sz="12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Kubernetes, Helm and GitOps</a:t>
            </a:r>
            <a:endParaRPr lang="en-US" sz="3400" dirty="0"/>
          </a:p>
        </p:txBody>
      </p:sp>
      <p:sp>
        <p:nvSpPr>
          <p:cNvPr id="4" name="k8s0"/>
          <p:cNvSpPr/>
          <p:nvPr/>
        </p:nvSpPr>
        <p:spPr>
          <a:xfrm>
            <a:off x="548640" y="1371600"/>
            <a:ext cx="5486400" cy="777240"/>
          </a:xfrm>
          <a:prstGeom prst="roundRect">
            <a:avLst>
              <a:gd name="adj" fmla="val 9412"/>
            </a:avLst>
          </a:prstGeom>
          <a:solidFill>
            <a:schemeClr val="bg2"/>
          </a:solidFill>
          <a:ln w="12700">
            <a:solidFill>
              <a:schemeClr val="bg2"/>
            </a:solidFill>
            <a:prstDash val="solid"/>
          </a:ln>
        </p:spPr>
      </p:sp>
      <p:sp>
        <p:nvSpPr>
          <p:cNvPr id="5" name="k8s0-head"/>
          <p:cNvSpPr txBox="1"/>
          <p:nvPr/>
        </p:nvSpPr>
        <p:spPr>
          <a:xfrm>
            <a:off x="777240" y="1444752"/>
            <a:ext cx="5120640" cy="320040"/>
          </a:xfrm>
          <a:prstGeom prst="rect">
            <a:avLst/>
          </a:prstGeom>
          <a:noFill/>
          <a:ln/>
        </p:spPr>
        <p:txBody>
          <a:bodyPr wrap="square" lIns="0" tIns="0" rIns="0" bIns="0" rtlCol="0" anchor="ctr"/>
          <a:lstStyle/>
          <a:p>
            <a:pPr indent="0" marL="0">
              <a:buNone/>
            </a:pPr>
            <a:r>
              <a:rPr lang="en-US" sz="1500" b="1" dirty="0">
                <a:solidFill>
                  <a:schemeClr val="accent1"/>
                </a:solidFill>
              </a:rPr>
              <a:t>Deployments</a:t>
            </a:r>
            <a:endParaRPr lang="en-US" sz="1500" dirty="0"/>
          </a:p>
        </p:txBody>
      </p:sp>
      <p:sp>
        <p:nvSpPr>
          <p:cNvPr id="6" name="k8s0-sub"/>
          <p:cNvSpPr txBox="1"/>
          <p:nvPr/>
        </p:nvSpPr>
        <p:spPr>
          <a:xfrm>
            <a:off x="777240" y="1755648"/>
            <a:ext cx="5120640" cy="320040"/>
          </a:xfrm>
          <a:prstGeom prst="rect">
            <a:avLst/>
          </a:prstGeom>
          <a:noFill/>
          <a:ln/>
        </p:spPr>
        <p:txBody>
          <a:bodyPr wrap="square" lIns="0" tIns="0" rIns="0" bIns="0" rtlCol="0" anchor="ctr"/>
          <a:lstStyle/>
          <a:p>
            <a:pPr indent="0" marL="0">
              <a:buNone/>
            </a:pPr>
            <a:r>
              <a:rPr lang="en-US" sz="1250" dirty="0">
                <a:solidFill>
                  <a:schemeClr val="tx1"/>
                </a:solidFill>
              </a:rPr>
              <a:t>backend + frontend, 2 replicas each, probes, maxUnavailable 0</a:t>
            </a:r>
            <a:endParaRPr lang="en-US" sz="1250" dirty="0"/>
          </a:p>
        </p:txBody>
      </p:sp>
      <p:sp>
        <p:nvSpPr>
          <p:cNvPr id="7" name="k8s1"/>
          <p:cNvSpPr/>
          <p:nvPr/>
        </p:nvSpPr>
        <p:spPr>
          <a:xfrm>
            <a:off x="548640" y="2286000"/>
            <a:ext cx="5486400" cy="777240"/>
          </a:xfrm>
          <a:prstGeom prst="roundRect">
            <a:avLst>
              <a:gd name="adj" fmla="val 9412"/>
            </a:avLst>
          </a:prstGeom>
          <a:solidFill>
            <a:schemeClr val="bg2"/>
          </a:solidFill>
          <a:ln w="12700">
            <a:solidFill>
              <a:schemeClr val="bg2"/>
            </a:solidFill>
            <a:prstDash val="solid"/>
          </a:ln>
        </p:spPr>
      </p:sp>
      <p:sp>
        <p:nvSpPr>
          <p:cNvPr id="8" name="k8s1-head"/>
          <p:cNvSpPr txBox="1"/>
          <p:nvPr/>
        </p:nvSpPr>
        <p:spPr>
          <a:xfrm>
            <a:off x="777240" y="2359152"/>
            <a:ext cx="5120640" cy="320040"/>
          </a:xfrm>
          <a:prstGeom prst="rect">
            <a:avLst/>
          </a:prstGeom>
          <a:noFill/>
          <a:ln/>
        </p:spPr>
        <p:txBody>
          <a:bodyPr wrap="square" lIns="0" tIns="0" rIns="0" bIns="0" rtlCol="0" anchor="ctr"/>
          <a:lstStyle/>
          <a:p>
            <a:pPr indent="0" marL="0">
              <a:buNone/>
            </a:pPr>
            <a:r>
              <a:rPr lang="en-US" sz="1500" b="1" dirty="0">
                <a:solidFill>
                  <a:schemeClr val="accent1"/>
                </a:solidFill>
              </a:rPr>
              <a:t>Services + Ingress</a:t>
            </a:r>
            <a:endParaRPr lang="en-US" sz="1500" dirty="0"/>
          </a:p>
        </p:txBody>
      </p:sp>
      <p:sp>
        <p:nvSpPr>
          <p:cNvPr id="9" name="k8s1-sub"/>
          <p:cNvSpPr txBox="1"/>
          <p:nvPr/>
        </p:nvSpPr>
        <p:spPr>
          <a:xfrm>
            <a:off x="777240" y="2670048"/>
            <a:ext cx="5120640" cy="320040"/>
          </a:xfrm>
          <a:prstGeom prst="rect">
            <a:avLst/>
          </a:prstGeom>
          <a:noFill/>
          <a:ln/>
        </p:spPr>
        <p:txBody>
          <a:bodyPr wrap="square" lIns="0" tIns="0" rIns="0" bIns="0" rtlCol="0" anchor="ctr"/>
          <a:lstStyle/>
          <a:p>
            <a:pPr indent="0" marL="0">
              <a:buNone/>
            </a:pPr>
            <a:r>
              <a:rPr lang="en-US" sz="1250" dirty="0">
                <a:solidFill>
                  <a:schemeClr val="tx1"/>
                </a:solidFill>
              </a:rPr>
              <a:t>ClusterIP; clinicflow.local: / → frontend, /api → backend</a:t>
            </a:r>
            <a:endParaRPr lang="en-US" sz="1250" dirty="0"/>
          </a:p>
        </p:txBody>
      </p:sp>
      <p:sp>
        <p:nvSpPr>
          <p:cNvPr id="10" name="k8s2"/>
          <p:cNvSpPr/>
          <p:nvPr/>
        </p:nvSpPr>
        <p:spPr>
          <a:xfrm>
            <a:off x="548640" y="3200400"/>
            <a:ext cx="5486400" cy="777240"/>
          </a:xfrm>
          <a:prstGeom prst="roundRect">
            <a:avLst>
              <a:gd name="adj" fmla="val 9412"/>
            </a:avLst>
          </a:prstGeom>
          <a:solidFill>
            <a:schemeClr val="bg2"/>
          </a:solidFill>
          <a:ln w="12700">
            <a:solidFill>
              <a:schemeClr val="bg2"/>
            </a:solidFill>
            <a:prstDash val="solid"/>
          </a:ln>
        </p:spPr>
      </p:sp>
      <p:sp>
        <p:nvSpPr>
          <p:cNvPr id="11" name="k8s2-head"/>
          <p:cNvSpPr txBox="1"/>
          <p:nvPr/>
        </p:nvSpPr>
        <p:spPr>
          <a:xfrm>
            <a:off x="777240" y="3273552"/>
            <a:ext cx="5120640" cy="320040"/>
          </a:xfrm>
          <a:prstGeom prst="rect">
            <a:avLst/>
          </a:prstGeom>
          <a:noFill/>
          <a:ln/>
        </p:spPr>
        <p:txBody>
          <a:bodyPr wrap="square" lIns="0" tIns="0" rIns="0" bIns="0" rtlCol="0" anchor="ctr"/>
          <a:lstStyle/>
          <a:p>
            <a:pPr indent="0" marL="0">
              <a:buNone/>
            </a:pPr>
            <a:r>
              <a:rPr lang="en-US" sz="1500" b="1" dirty="0">
                <a:solidFill>
                  <a:schemeClr val="accent1"/>
                </a:solidFill>
              </a:rPr>
              <a:t>StatefulSet + PVC</a:t>
            </a:r>
            <a:endParaRPr lang="en-US" sz="1500" dirty="0"/>
          </a:p>
        </p:txBody>
      </p:sp>
      <p:sp>
        <p:nvSpPr>
          <p:cNvPr id="12" name="k8s2-sub"/>
          <p:cNvSpPr txBox="1"/>
          <p:nvPr/>
        </p:nvSpPr>
        <p:spPr>
          <a:xfrm>
            <a:off x="777240" y="3584448"/>
            <a:ext cx="5120640" cy="320040"/>
          </a:xfrm>
          <a:prstGeom prst="rect">
            <a:avLst/>
          </a:prstGeom>
          <a:noFill/>
          <a:ln/>
        </p:spPr>
        <p:txBody>
          <a:bodyPr wrap="square" lIns="0" tIns="0" rIns="0" bIns="0" rtlCol="0" anchor="ctr"/>
          <a:lstStyle/>
          <a:p>
            <a:pPr indent="0" marL="0">
              <a:buNone/>
            </a:pPr>
            <a:r>
              <a:rPr lang="en-US" sz="1250" dirty="0">
                <a:solidFill>
                  <a:schemeClr val="tx1"/>
                </a:solidFill>
              </a:rPr>
              <a:t>PostgreSQL, UID 70, 1 Gi</a:t>
            </a:r>
            <a:endParaRPr lang="en-US" sz="1250" dirty="0"/>
          </a:p>
        </p:txBody>
      </p:sp>
      <p:sp>
        <p:nvSpPr>
          <p:cNvPr id="13" name="k8s3"/>
          <p:cNvSpPr/>
          <p:nvPr/>
        </p:nvSpPr>
        <p:spPr>
          <a:xfrm>
            <a:off x="548640" y="4114800"/>
            <a:ext cx="5486400" cy="777240"/>
          </a:xfrm>
          <a:prstGeom prst="roundRect">
            <a:avLst>
              <a:gd name="adj" fmla="val 9412"/>
            </a:avLst>
          </a:prstGeom>
          <a:solidFill>
            <a:schemeClr val="bg2"/>
          </a:solidFill>
          <a:ln w="12700">
            <a:solidFill>
              <a:schemeClr val="bg2"/>
            </a:solidFill>
            <a:prstDash val="solid"/>
          </a:ln>
        </p:spPr>
      </p:sp>
      <p:sp>
        <p:nvSpPr>
          <p:cNvPr id="14" name="k8s3-head"/>
          <p:cNvSpPr txBox="1"/>
          <p:nvPr/>
        </p:nvSpPr>
        <p:spPr>
          <a:xfrm>
            <a:off x="777240" y="4187952"/>
            <a:ext cx="5120640" cy="320040"/>
          </a:xfrm>
          <a:prstGeom prst="rect">
            <a:avLst/>
          </a:prstGeom>
          <a:noFill/>
          <a:ln/>
        </p:spPr>
        <p:txBody>
          <a:bodyPr wrap="square" lIns="0" tIns="0" rIns="0" bIns="0" rtlCol="0" anchor="ctr"/>
          <a:lstStyle/>
          <a:p>
            <a:pPr indent="0" marL="0">
              <a:buNone/>
            </a:pPr>
            <a:r>
              <a:rPr lang="en-US" sz="1500" b="1" dirty="0">
                <a:solidFill>
                  <a:schemeClr val="accent1"/>
                </a:solidFill>
              </a:rPr>
              <a:t>HPA + PDBs</a:t>
            </a:r>
            <a:endParaRPr lang="en-US" sz="1500" dirty="0"/>
          </a:p>
        </p:txBody>
      </p:sp>
      <p:sp>
        <p:nvSpPr>
          <p:cNvPr id="15" name="k8s3-sub"/>
          <p:cNvSpPr txBox="1"/>
          <p:nvPr/>
        </p:nvSpPr>
        <p:spPr>
          <a:xfrm>
            <a:off x="777240" y="4498848"/>
            <a:ext cx="5120640" cy="320040"/>
          </a:xfrm>
          <a:prstGeom prst="rect">
            <a:avLst/>
          </a:prstGeom>
          <a:noFill/>
          <a:ln/>
        </p:spPr>
        <p:txBody>
          <a:bodyPr wrap="square" lIns="0" tIns="0" rIns="0" bIns="0" rtlCol="0" anchor="ctr"/>
          <a:lstStyle/>
          <a:p>
            <a:pPr indent="0" marL="0">
              <a:buNone/>
            </a:pPr>
            <a:r>
              <a:rPr lang="en-US" sz="1250" dirty="0">
                <a:solidFill>
                  <a:schemeClr val="tx1"/>
                </a:solidFill>
              </a:rPr>
              <a:t>backend 2–6 at 60% CPU; one pod per tier may be evicted</a:t>
            </a:r>
            <a:endParaRPr lang="en-US" sz="1250" dirty="0"/>
          </a:p>
        </p:txBody>
      </p:sp>
      <p:sp>
        <p:nvSpPr>
          <p:cNvPr id="16" name="k8s4"/>
          <p:cNvSpPr/>
          <p:nvPr/>
        </p:nvSpPr>
        <p:spPr>
          <a:xfrm>
            <a:off x="548640" y="5029200"/>
            <a:ext cx="5486400" cy="777240"/>
          </a:xfrm>
          <a:prstGeom prst="roundRect">
            <a:avLst>
              <a:gd name="adj" fmla="val 9412"/>
            </a:avLst>
          </a:prstGeom>
          <a:solidFill>
            <a:schemeClr val="bg2"/>
          </a:solidFill>
          <a:ln w="12700">
            <a:solidFill>
              <a:schemeClr val="bg2"/>
            </a:solidFill>
            <a:prstDash val="solid"/>
          </a:ln>
        </p:spPr>
      </p:sp>
      <p:sp>
        <p:nvSpPr>
          <p:cNvPr id="17" name="k8s4-head"/>
          <p:cNvSpPr txBox="1"/>
          <p:nvPr/>
        </p:nvSpPr>
        <p:spPr>
          <a:xfrm>
            <a:off x="777240" y="5102352"/>
            <a:ext cx="5120640" cy="320040"/>
          </a:xfrm>
          <a:prstGeom prst="rect">
            <a:avLst/>
          </a:prstGeom>
          <a:noFill/>
          <a:ln/>
        </p:spPr>
        <p:txBody>
          <a:bodyPr wrap="square" lIns="0" tIns="0" rIns="0" bIns="0" rtlCol="0" anchor="ctr"/>
          <a:lstStyle/>
          <a:p>
            <a:pPr indent="0" marL="0">
              <a:buNone/>
            </a:pPr>
            <a:r>
              <a:rPr lang="en-US" sz="1500" b="1" dirty="0">
                <a:solidFill>
                  <a:schemeClr val="accent1"/>
                </a:solidFill>
              </a:rPr>
              <a:t>Guard rail</a:t>
            </a:r>
            <a:endParaRPr lang="en-US" sz="1500" dirty="0"/>
          </a:p>
        </p:txBody>
      </p:sp>
      <p:sp>
        <p:nvSpPr>
          <p:cNvPr id="18" name="k8s4-sub"/>
          <p:cNvSpPr txBox="1"/>
          <p:nvPr/>
        </p:nvSpPr>
        <p:spPr>
          <a:xfrm>
            <a:off x="777240" y="5413248"/>
            <a:ext cx="5120640" cy="320040"/>
          </a:xfrm>
          <a:prstGeom prst="rect">
            <a:avLst/>
          </a:prstGeom>
          <a:noFill/>
          <a:ln/>
        </p:spPr>
        <p:txBody>
          <a:bodyPr wrap="square" lIns="0" tIns="0" rIns="0" bIns="0" rtlCol="0" anchor="ctr"/>
          <a:lstStyle/>
          <a:p>
            <a:pPr indent="0" marL="0">
              <a:buNone/>
            </a:pPr>
            <a:r>
              <a:rPr lang="en-US" sz="1250" dirty="0">
                <a:solidFill>
                  <a:schemeClr val="tx1"/>
                </a:solidFill>
              </a:rPr>
              <a:t>no image tag = no render: every deploy names a SHA</a:t>
            </a:r>
            <a:endParaRPr lang="en-US" sz="1250" dirty="0"/>
          </a:p>
        </p:txBody>
      </p:sp>
      <p:sp>
        <p:nvSpPr>
          <p:cNvPr id="19" name="loop0"/>
          <p:cNvSpPr/>
          <p:nvPr/>
        </p:nvSpPr>
        <p:spPr>
          <a:xfrm>
            <a:off x="6949440" y="1463040"/>
            <a:ext cx="2103120" cy="822960"/>
          </a:xfrm>
          <a:prstGeom prst="roundRect">
            <a:avLst>
              <a:gd name="adj" fmla="val 6667"/>
            </a:avLst>
          </a:prstGeom>
          <a:solidFill>
            <a:srgbClr val="ECFDF5"/>
          </a:solidFill>
          <a:ln w="15875">
            <a:solidFill>
              <a:schemeClr val="accent1"/>
            </a:solidFill>
            <a:prstDash val="solid"/>
          </a:ln>
        </p:spPr>
      </p:sp>
      <p:sp>
        <p:nvSpPr>
          <p:cNvPr id="20" name="loop0-text"/>
          <p:cNvSpPr txBox="1"/>
          <p:nvPr/>
        </p:nvSpPr>
        <p:spPr>
          <a:xfrm>
            <a:off x="6949440" y="1463040"/>
            <a:ext cx="2103120" cy="822960"/>
          </a:xfrm>
          <a:prstGeom prst="rect">
            <a:avLst/>
          </a:prstGeom>
          <a:noFill/>
          <a:ln/>
        </p:spPr>
        <p:txBody>
          <a:bodyPr wrap="square" lIns="50800" tIns="50800" rIns="50800" bIns="50800" rtlCol="0" anchor="ctr"/>
          <a:lstStyle/>
          <a:p>
            <a:pPr algn="ctr" indent="0" marL="0">
              <a:buNone/>
            </a:pPr>
            <a:r>
              <a:rPr lang="en-US" sz="1350" b="1" dirty="0">
                <a:solidFill>
                  <a:schemeClr val="tx1"/>
                </a:solidFill>
              </a:rPr>
              <a:t>git push</a:t>
            </a:r>
            <a:endParaRPr lang="en-US" sz="1350" dirty="0"/>
          </a:p>
        </p:txBody>
      </p:sp>
      <p:sp>
        <p:nvSpPr>
          <p:cNvPr id="21" name="loop1"/>
          <p:cNvSpPr/>
          <p:nvPr/>
        </p:nvSpPr>
        <p:spPr>
          <a:xfrm>
            <a:off x="9326880" y="1463040"/>
            <a:ext cx="2103120" cy="822960"/>
          </a:xfrm>
          <a:prstGeom prst="roundRect">
            <a:avLst>
              <a:gd name="adj" fmla="val 6667"/>
            </a:avLst>
          </a:prstGeom>
          <a:solidFill>
            <a:srgbClr val="ECFDF5"/>
          </a:solidFill>
          <a:ln w="15875">
            <a:solidFill>
              <a:schemeClr val="accent1"/>
            </a:solidFill>
            <a:prstDash val="solid"/>
          </a:ln>
        </p:spPr>
      </p:sp>
      <p:sp>
        <p:nvSpPr>
          <p:cNvPr id="22" name="loop1-text"/>
          <p:cNvSpPr txBox="1"/>
          <p:nvPr/>
        </p:nvSpPr>
        <p:spPr>
          <a:xfrm>
            <a:off x="9326880" y="1463040"/>
            <a:ext cx="2103120" cy="822960"/>
          </a:xfrm>
          <a:prstGeom prst="rect">
            <a:avLst/>
          </a:prstGeom>
          <a:noFill/>
          <a:ln/>
        </p:spPr>
        <p:txBody>
          <a:bodyPr wrap="square" lIns="50800" tIns="50800" rIns="50800" bIns="50800" rtlCol="0" anchor="ctr"/>
          <a:lstStyle/>
          <a:p>
            <a:pPr algn="ctr" indent="0" marL="0">
              <a:buNone/>
            </a:pPr>
            <a:r>
              <a:rPr lang="en-US" sz="1350" b="1" dirty="0">
                <a:solidFill>
                  <a:schemeClr val="tx1"/>
                </a:solidFill>
              </a:rPr>
              <a:t>CI: test · scan · push</a:t>
            </a:r>
            <a:endParaRPr lang="en-US" sz="1350" dirty="0"/>
          </a:p>
        </p:txBody>
      </p:sp>
      <p:sp>
        <p:nvSpPr>
          <p:cNvPr id="23" name="loop2"/>
          <p:cNvSpPr/>
          <p:nvPr/>
        </p:nvSpPr>
        <p:spPr>
          <a:xfrm>
            <a:off x="9326880" y="3291840"/>
            <a:ext cx="2103120" cy="822960"/>
          </a:xfrm>
          <a:prstGeom prst="roundRect">
            <a:avLst>
              <a:gd name="adj" fmla="val 6667"/>
            </a:avLst>
          </a:prstGeom>
          <a:solidFill>
            <a:srgbClr val="ECFDF5"/>
          </a:solidFill>
          <a:ln w="15875">
            <a:solidFill>
              <a:schemeClr val="accent1"/>
            </a:solidFill>
            <a:prstDash val="solid"/>
          </a:ln>
        </p:spPr>
      </p:sp>
      <p:sp>
        <p:nvSpPr>
          <p:cNvPr id="24" name="loop2-text"/>
          <p:cNvSpPr txBox="1"/>
          <p:nvPr/>
        </p:nvSpPr>
        <p:spPr>
          <a:xfrm>
            <a:off x="9326880" y="3291840"/>
            <a:ext cx="2103120" cy="822960"/>
          </a:xfrm>
          <a:prstGeom prst="rect">
            <a:avLst/>
          </a:prstGeom>
          <a:noFill/>
          <a:ln/>
        </p:spPr>
        <p:txBody>
          <a:bodyPr wrap="square" lIns="50800" tIns="50800" rIns="50800" bIns="50800" rtlCol="0" anchor="ctr"/>
          <a:lstStyle/>
          <a:p>
            <a:pPr algn="ctr" indent="0" marL="0">
              <a:buNone/>
            </a:pPr>
            <a:r>
              <a:rPr lang="en-US" sz="1350" b="1" dirty="0">
                <a:solidFill>
                  <a:schemeClr val="tx1"/>
                </a:solidFill>
              </a:rPr>
              <a:t>promote SHA to gitops/</a:t>
            </a:r>
            <a:endParaRPr lang="en-US" sz="1350" dirty="0"/>
          </a:p>
        </p:txBody>
      </p:sp>
      <p:sp>
        <p:nvSpPr>
          <p:cNvPr id="25" name="loop3"/>
          <p:cNvSpPr/>
          <p:nvPr/>
        </p:nvSpPr>
        <p:spPr>
          <a:xfrm>
            <a:off x="6949440" y="3291840"/>
            <a:ext cx="2103120" cy="822960"/>
          </a:xfrm>
          <a:prstGeom prst="roundRect">
            <a:avLst>
              <a:gd name="adj" fmla="val 6667"/>
            </a:avLst>
          </a:prstGeom>
          <a:solidFill>
            <a:srgbClr val="FFF7ED"/>
          </a:solidFill>
          <a:ln w="15875">
            <a:solidFill>
              <a:schemeClr val="accent3"/>
            </a:solidFill>
            <a:prstDash val="solid"/>
          </a:ln>
        </p:spPr>
      </p:sp>
      <p:sp>
        <p:nvSpPr>
          <p:cNvPr id="26" name="loop3-text"/>
          <p:cNvSpPr txBox="1"/>
          <p:nvPr/>
        </p:nvSpPr>
        <p:spPr>
          <a:xfrm>
            <a:off x="6949440" y="3291840"/>
            <a:ext cx="2103120" cy="822960"/>
          </a:xfrm>
          <a:prstGeom prst="rect">
            <a:avLst/>
          </a:prstGeom>
          <a:noFill/>
          <a:ln/>
        </p:spPr>
        <p:txBody>
          <a:bodyPr wrap="square" lIns="50800" tIns="50800" rIns="50800" bIns="50800" rtlCol="0" anchor="ctr"/>
          <a:lstStyle/>
          <a:p>
            <a:pPr algn="ctr" indent="0" marL="0">
              <a:buNone/>
            </a:pPr>
            <a:r>
              <a:rPr lang="en-US" sz="1350" b="1" dirty="0">
                <a:solidFill>
                  <a:schemeClr val="tx1"/>
                </a:solidFill>
              </a:rPr>
              <a:t>Argo CD syncs the cluster</a:t>
            </a:r>
            <a:endParaRPr lang="en-US" sz="1350" dirty="0"/>
          </a:p>
        </p:txBody>
      </p:sp>
      <p:sp>
        <p:nvSpPr>
          <p:cNvPr id="27" name="lp1"/>
          <p:cNvSpPr/>
          <p:nvPr/>
        </p:nvSpPr>
        <p:spPr>
          <a:xfrm>
            <a:off x="9052560" y="1874520"/>
            <a:ext cx="274320" cy="914"/>
          </a:xfrm>
          <a:prstGeom prst="line">
            <a:avLst/>
          </a:prstGeom>
          <a:noFill/>
          <a:ln w="19050">
            <a:solidFill>
              <a:srgbClr val="475569"/>
            </a:solidFill>
            <a:prstDash val="solid"/>
            <a:tailEnd type="triangle"/>
          </a:ln>
        </p:spPr>
      </p:sp>
      <p:sp>
        <p:nvSpPr>
          <p:cNvPr id="28" name="lp2"/>
          <p:cNvSpPr/>
          <p:nvPr/>
        </p:nvSpPr>
        <p:spPr>
          <a:xfrm>
            <a:off x="10378440" y="2286000"/>
            <a:ext cx="914" cy="1005840"/>
          </a:xfrm>
          <a:prstGeom prst="line">
            <a:avLst/>
          </a:prstGeom>
          <a:noFill/>
          <a:ln w="19050">
            <a:solidFill>
              <a:srgbClr val="475569"/>
            </a:solidFill>
            <a:prstDash val="solid"/>
            <a:tailEnd type="triangle"/>
          </a:ln>
        </p:spPr>
      </p:sp>
      <p:sp>
        <p:nvSpPr>
          <p:cNvPr id="29" name="lp3"/>
          <p:cNvSpPr/>
          <p:nvPr/>
        </p:nvSpPr>
        <p:spPr>
          <a:xfrm flipH="1">
            <a:off x="9052560" y="3703320"/>
            <a:ext cx="274320" cy="914"/>
          </a:xfrm>
          <a:prstGeom prst="line">
            <a:avLst/>
          </a:prstGeom>
          <a:noFill/>
          <a:ln w="19050">
            <a:solidFill>
              <a:srgbClr val="475569"/>
            </a:solidFill>
            <a:prstDash val="solid"/>
            <a:tailEnd type="triangle"/>
          </a:ln>
        </p:spPr>
      </p:sp>
      <p:sp>
        <p:nvSpPr>
          <p:cNvPr id="30" name="lp4"/>
          <p:cNvSpPr/>
          <p:nvPr/>
        </p:nvSpPr>
        <p:spPr>
          <a:xfrm flipV="1">
            <a:off x="8001000" y="2286000"/>
            <a:ext cx="914" cy="1005840"/>
          </a:xfrm>
          <a:prstGeom prst="line">
            <a:avLst/>
          </a:prstGeom>
          <a:noFill/>
          <a:ln w="19050">
            <a:solidFill>
              <a:srgbClr val="475569"/>
            </a:solidFill>
            <a:prstDash val="dash"/>
            <a:tailEnd type="triangle"/>
          </a:ln>
        </p:spPr>
      </p:sp>
      <p:sp>
        <p:nvSpPr>
          <p:cNvPr id="31" name="lp4-label"/>
          <p:cNvSpPr txBox="1"/>
          <p:nvPr/>
        </p:nvSpPr>
        <p:spPr>
          <a:xfrm>
            <a:off x="6400800" y="2606040"/>
            <a:ext cx="1508760" cy="256032"/>
          </a:xfrm>
          <a:prstGeom prst="rect">
            <a:avLst/>
          </a:prstGeom>
          <a:noFill/>
          <a:ln/>
        </p:spPr>
        <p:txBody>
          <a:bodyPr wrap="square" lIns="0" tIns="0" rIns="0" bIns="0" rtlCol="0" anchor="ctr"/>
          <a:lstStyle/>
          <a:p>
            <a:pPr algn="r" indent="0" marL="0">
              <a:buNone/>
            </a:pPr>
            <a:r>
              <a:rPr lang="en-US" sz="1050" i="1" dirty="0">
                <a:solidFill>
                  <a:srgbClr val="64748B"/>
                </a:solidFill>
              </a:rPr>
              <a:t>next change</a:t>
            </a:r>
            <a:endParaRPr lang="en-US" sz="1050" dirty="0"/>
          </a:p>
        </p:txBody>
      </p:sp>
      <p:sp>
        <p:nvSpPr>
          <p:cNvPr id="32" name="gitops-note"/>
          <p:cNvSpPr txBox="1"/>
          <p:nvPr/>
        </p:nvSpPr>
        <p:spPr>
          <a:xfrm>
            <a:off x="6949440" y="4434840"/>
            <a:ext cx="4480560" cy="1188720"/>
          </a:xfrm>
          <a:prstGeom prst="rect">
            <a:avLst/>
          </a:prstGeom>
          <a:noFill/>
          <a:ln/>
        </p:spPr>
        <p:txBody>
          <a:bodyPr wrap="square" lIns="0" tIns="0" rIns="0" bIns="0" rtlCol="0" anchor="t"/>
          <a:lstStyle/>
          <a:p>
            <a:pPr indent="0" marL="0">
              <a:buNone/>
            </a:pPr>
            <a:r>
              <a:rPr lang="en-US" sz="1400" dirty="0">
                <a:solidFill>
                  <a:schemeClr val="tx1"/>
                </a:solidFill>
              </a:rPr>
              <a:t>Staging: helm upgrade --install (helm list)</a:t>
            </a:r>
            <a:endParaRPr lang="en-US" sz="1400" dirty="0"/>
          </a:p>
          <a:p>
            <a:pPr indent="0" marL="0">
              <a:buNone/>
            </a:pPr>
            <a:r>
              <a:rPr lang="en-US" sz="1400" dirty="0">
                <a:solidFill>
                  <a:schemeClr val="tx1"/>
                </a:solidFill>
              </a:rPr>
              <a:t>Production: Argo CD auto-sync · prune · self-heal</a:t>
            </a:r>
            <a:endParaRPr lang="en-US" sz="1400" dirty="0"/>
          </a:p>
          <a:p>
            <a:pPr indent="0" marL="0">
              <a:buNone/>
            </a:pPr>
            <a:r>
              <a:rPr lang="en-US" sz="1400" dirty="0">
                <a:solidFill>
                  <a:schemeClr val="tx1"/>
                </a:solidFill>
              </a:rPr>
              <a:t>Nobody runs kubectl apply on production.</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Proved under load: autoscaling and migrations</a:t>
            </a:r>
            <a:endParaRPr lang="en-US" sz="3400" dirty="0"/>
          </a:p>
        </p:txBody>
      </p:sp>
      <p:graphicFrame>
        <p:nvGraphicFramePr>
          <p:cNvPr id="4" name="Chart 0" descr=""/>
          <p:cNvGraphicFramePr/>
          <p:nvPr/>
        </p:nvGraphicFramePr>
        <p:xfrm>
          <a:off x="548640" y="13716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hpa-up-value"/>
          <p:cNvSpPr txBox="1"/>
          <p:nvPr/>
        </p:nvSpPr>
        <p:spPr>
          <a:xfrm>
            <a:off x="7863840" y="1371600"/>
            <a:ext cx="3749040" cy="777240"/>
          </a:xfrm>
          <a:prstGeom prst="rect">
            <a:avLst/>
          </a:prstGeom>
          <a:noFill/>
          <a:ln/>
        </p:spPr>
        <p:txBody>
          <a:bodyPr wrap="square" lIns="0" tIns="0" rIns="0" bIns="0" rtlCol="0" anchor="ctr"/>
          <a:lstStyle/>
          <a:p>
            <a:pPr indent="0" marL="0">
              <a:buNone/>
            </a:pPr>
            <a:r>
              <a:rPr lang="en-US" sz="4400" b="1" dirty="0">
                <a:solidFill>
                  <a:schemeClr val="accent1"/>
                </a:solidFill>
              </a:rPr>
              <a:t>4 → 6</a:t>
            </a:r>
            <a:endParaRPr lang="en-US" sz="4400" dirty="0"/>
          </a:p>
        </p:txBody>
      </p:sp>
      <p:sp>
        <p:nvSpPr>
          <p:cNvPr id="6" name="hpa-up-label"/>
          <p:cNvSpPr txBox="1"/>
          <p:nvPr/>
        </p:nvSpPr>
        <p:spPr>
          <a:xfrm>
            <a:off x="7863840" y="2148840"/>
            <a:ext cx="3749040" cy="457200"/>
          </a:xfrm>
          <a:prstGeom prst="rect">
            <a:avLst/>
          </a:prstGeom>
          <a:noFill/>
          <a:ln/>
        </p:spPr>
        <p:txBody>
          <a:bodyPr wrap="square" lIns="0" tIns="0" rIns="0" bIns="0" rtlCol="0" anchor="t"/>
          <a:lstStyle/>
          <a:p>
            <a:pPr indent="0" marL="0">
              <a:buNone/>
            </a:pPr>
            <a:r>
              <a:rPr lang="en-US" sz="1300" dirty="0">
                <a:solidFill>
                  <a:srgbClr val="64748B"/>
                </a:solidFill>
              </a:rPr>
              <a:t>replicas within 30 s; CPU about 720% of target</a:t>
            </a:r>
            <a:endParaRPr lang="en-US" sz="1300" dirty="0"/>
          </a:p>
        </p:txBody>
      </p:sp>
      <p:sp>
        <p:nvSpPr>
          <p:cNvPr id="7" name="hpa-down-value"/>
          <p:cNvSpPr txBox="1"/>
          <p:nvPr/>
        </p:nvSpPr>
        <p:spPr>
          <a:xfrm>
            <a:off x="7863840" y="2697480"/>
            <a:ext cx="3749040" cy="777240"/>
          </a:xfrm>
          <a:prstGeom prst="rect">
            <a:avLst/>
          </a:prstGeom>
          <a:noFill/>
          <a:ln/>
        </p:spPr>
        <p:txBody>
          <a:bodyPr wrap="square" lIns="0" tIns="0" rIns="0" bIns="0" rtlCol="0" anchor="ctr"/>
          <a:lstStyle/>
          <a:p>
            <a:pPr indent="0" marL="0">
              <a:buNone/>
            </a:pPr>
            <a:r>
              <a:rPr lang="en-US" sz="4400" b="1" dirty="0">
                <a:solidFill>
                  <a:schemeClr val="accent5"/>
                </a:solidFill>
              </a:rPr>
              <a:t>→ 2</a:t>
            </a:r>
            <a:endParaRPr lang="en-US" sz="4400" dirty="0"/>
          </a:p>
        </p:txBody>
      </p:sp>
      <p:sp>
        <p:nvSpPr>
          <p:cNvPr id="8" name="hpa-down-label"/>
          <p:cNvSpPr txBox="1"/>
          <p:nvPr/>
        </p:nvSpPr>
        <p:spPr>
          <a:xfrm>
            <a:off x="7863840" y="3474720"/>
            <a:ext cx="3749040" cy="457200"/>
          </a:xfrm>
          <a:prstGeom prst="rect">
            <a:avLst/>
          </a:prstGeom>
          <a:noFill/>
          <a:ln/>
        </p:spPr>
        <p:txBody>
          <a:bodyPr wrap="square" lIns="0" tIns="0" rIns="0" bIns="0" rtlCol="0" anchor="t"/>
          <a:lstStyle/>
          <a:p>
            <a:pPr indent="0" marL="0">
              <a:buNone/>
            </a:pPr>
            <a:r>
              <a:rPr lang="en-US" sz="1300" dirty="0">
                <a:solidFill>
                  <a:srgbClr val="64748B"/>
                </a:solidFill>
              </a:rPr>
              <a:t>about 75 s after the load stopped</a:t>
            </a:r>
            <a:endParaRPr lang="en-US" sz="1300" dirty="0"/>
          </a:p>
        </p:txBody>
      </p:sp>
      <p:sp>
        <p:nvSpPr>
          <p:cNvPr id="9" name="race-card"/>
          <p:cNvSpPr/>
          <p:nvPr/>
        </p:nvSpPr>
        <p:spPr>
          <a:xfrm>
            <a:off x="7863840" y="4069080"/>
            <a:ext cx="3749040" cy="1508760"/>
          </a:xfrm>
          <a:prstGeom prst="roundRect">
            <a:avLst>
              <a:gd name="adj" fmla="val 4848"/>
            </a:avLst>
          </a:prstGeom>
          <a:solidFill>
            <a:srgbClr val="ECFDF5"/>
          </a:solidFill>
          <a:ln w="12700">
            <a:solidFill>
              <a:srgbClr val="ECFDF5"/>
            </a:solidFill>
            <a:prstDash val="solid"/>
          </a:ln>
        </p:spPr>
      </p:sp>
      <p:sp>
        <p:nvSpPr>
          <p:cNvPr id="10" name="race-text"/>
          <p:cNvSpPr txBox="1"/>
          <p:nvPr/>
        </p:nvSpPr>
        <p:spPr>
          <a:xfrm>
            <a:off x="8046720" y="4160520"/>
            <a:ext cx="3429000" cy="1325880"/>
          </a:xfrm>
          <a:prstGeom prst="rect">
            <a:avLst/>
          </a:prstGeom>
          <a:noFill/>
          <a:ln/>
        </p:spPr>
        <p:txBody>
          <a:bodyPr wrap="square" lIns="0" tIns="0" rIns="0" bIns="0" rtlCol="0" anchor="t"/>
          <a:lstStyle/>
          <a:p>
            <a:pPr indent="0" marL="0">
              <a:buNone/>
            </a:pPr>
            <a:r>
              <a:rPr lang="en-US" sz="1600" b="1" dirty="0">
                <a:solidFill>
                  <a:schemeClr val="accent1"/>
                </a:solidFill>
              </a:rPr>
              <a:t>Migration race test</a:t>
            </a:r>
            <a:endParaRPr lang="en-US" sz="1600" dirty="0"/>
          </a:p>
          <a:p>
            <a:pPr indent="0" marL="0">
              <a:buNone/>
            </a:pPr>
            <a:r>
              <a:rPr lang="en-US" sz="1300" dirty="0">
                <a:solidFill>
                  <a:schemeClr val="tx1"/>
                </a:solidFill>
              </a:rPr>
              <a:t>3 pods, empty database, same moment: one migrates, two wait on the advisory lock, all exit 0.</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Observability: from HTTP latency to no-show rate</a:t>
            </a:r>
            <a:endParaRPr lang="en-US" sz="3400" dirty="0"/>
          </a:p>
        </p:txBody>
      </p:sp>
      <p:sp>
        <p:nvSpPr>
          <p:cNvPr id="4" name="obs-bullets"/>
          <p:cNvSpPr txBox="1"/>
          <p:nvPr/>
        </p:nvSpPr>
        <p:spPr>
          <a:xfrm>
            <a:off x="548640" y="1417320"/>
            <a:ext cx="4480560" cy="457200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chemeClr val="tx1"/>
                </a:solidFill>
              </a:rPr>
              <a:t>/metrics: requests and latency per route, buckets from 5 ms</a:t>
            </a:r>
            <a:endParaRPr lang="en-US" sz="1450" dirty="0"/>
          </a:p>
          <a:p>
            <a:pPr marL="342900" indent="-342900">
              <a:spcAft>
                <a:spcPts val="800"/>
              </a:spcAft>
              <a:buSzPct val="100000"/>
              <a:buChar char="•"/>
            </a:pPr>
            <a:r>
              <a:rPr lang="en-US" sz="1450" dirty="0">
                <a:solidFill>
                  <a:schemeClr val="tx1"/>
                </a:solidFill>
              </a:rPr>
              <a:t>Clinic gauges read from the DB at scrape time: today by status, patients waiting, 30-day no-show ratio</a:t>
            </a:r>
            <a:endParaRPr lang="en-US" sz="1450" dirty="0"/>
          </a:p>
          <a:p>
            <a:pPr marL="342900" indent="-342900">
              <a:spcAft>
                <a:spcPts val="800"/>
              </a:spcAft>
              <a:buSzPct val="100000"/>
              <a:buChar char="•"/>
            </a:pPr>
            <a:r>
              <a:rPr lang="en-US" sz="1450" dirty="0">
                <a:solidFill>
                  <a:schemeClr val="tx1"/>
                </a:solidFill>
              </a:rPr>
              <a:t>ServiceMonitor → Prometheus scrapes every pod (6/6 UP under load)</a:t>
            </a:r>
            <a:endParaRPr lang="en-US" sz="1450" dirty="0"/>
          </a:p>
          <a:p>
            <a:pPr marL="342900" indent="-342900">
              <a:spcAft>
                <a:spcPts val="800"/>
              </a:spcAft>
              <a:buSzPct val="100000"/>
              <a:buChar char="•"/>
            </a:pPr>
            <a:r>
              <a:rPr lang="en-US" sz="1450" dirty="0">
                <a:solidFill>
                  <a:schemeClr val="tx1"/>
                </a:solidFill>
              </a:rPr>
              <a:t>7 alerts: backend down, 5xx, p95, HPA at max, no-show rate, waiting room, double-booking bursts</a:t>
            </a:r>
            <a:endParaRPr lang="en-US" sz="1450" dirty="0"/>
          </a:p>
          <a:p>
            <a:pPr marL="342900" indent="-342900">
              <a:spcAft>
                <a:spcPts val="800"/>
              </a:spcAft>
              <a:buSzPct val="100000"/>
              <a:buChar char="•"/>
            </a:pPr>
            <a:r>
              <a:rPr lang="en-US" sz="1450" dirty="0">
                <a:solidFill>
                  <a:schemeClr val="tx1"/>
                </a:solidFill>
              </a:rPr>
              <a:t>19-panel Grafana dashboard shipped in the chart as code</a:t>
            </a:r>
            <a:endParaRPr lang="en-US" sz="1450" dirty="0"/>
          </a:p>
        </p:txBody>
      </p:sp>
      <p:pic>
        <p:nvPicPr>
          <p:cNvPr id="5" name="grafana" descr="/Users/rajprakash/Desktop/devops/devsecops-python/screenshots/m9-31-grafana-dashboard.png">    </p:cNvPr>
          <p:cNvPicPr>
            <a:picLocks noChangeAspect="1"/>
          </p:cNvPicPr>
          <p:nvPr/>
        </p:nvPicPr>
        <p:blipFill>
          <a:blip r:embed="rId1"/>
          <a:srcRect l="0" r="0" t="0" b="18083"/>
          <a:stretch/>
        </p:blipFill>
        <p:spPr>
          <a:xfrm>
            <a:off x="5303520" y="1325880"/>
            <a:ext cx="6309360" cy="4846320"/>
          </a:xfrm>
          <a:prstGeom prst="rect">
            <a:avLst/>
          </a:prstGeom>
          <a:effectLst>
            <a:outerShdw sx="100000" sy="100000" kx="0" ky="0" algn="bl" rotWithShape="0" blurRad="101600" dist="25400" dir="5400000">
              <a:srgbClr val="0F172A">
                <a:alpha val="12000"/>
              </a:srgbClr>
            </a:outerShdw>
          </a:effectLst>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Key learnings</a:t>
            </a:r>
            <a:endParaRPr lang="en-US" sz="3400" dirty="0"/>
          </a:p>
        </p:txBody>
      </p:sp>
      <p:sp>
        <p:nvSpPr>
          <p:cNvPr id="4" name="learn0"/>
          <p:cNvSpPr/>
          <p:nvPr/>
        </p:nvSpPr>
        <p:spPr>
          <a:xfrm>
            <a:off x="548640" y="1417320"/>
            <a:ext cx="5349240" cy="2103120"/>
          </a:xfrm>
          <a:prstGeom prst="roundRect">
            <a:avLst>
              <a:gd name="adj" fmla="val 3478"/>
            </a:avLst>
          </a:prstGeom>
          <a:solidFill>
            <a:schemeClr val="bg2"/>
          </a:solidFill>
          <a:ln w="12700">
            <a:solidFill>
              <a:schemeClr val="bg2"/>
            </a:solidFill>
            <a:prstDash val="solid"/>
          </a:ln>
        </p:spPr>
      </p:sp>
      <p:sp>
        <p:nvSpPr>
          <p:cNvPr id="5" name="learn0-circle"/>
          <p:cNvSpPr/>
          <p:nvPr/>
        </p:nvSpPr>
        <p:spPr>
          <a:xfrm>
            <a:off x="822960" y="1691640"/>
            <a:ext cx="640080" cy="640080"/>
          </a:xfrm>
          <a:prstGeom prst="ellipse">
            <a:avLst/>
          </a:prstGeom>
          <a:solidFill>
            <a:schemeClr val="accent1"/>
          </a:solidFill>
          <a:ln w="12700">
            <a:solidFill>
              <a:schemeClr val="accent1"/>
            </a:solidFill>
            <a:prstDash val="solid"/>
          </a:ln>
        </p:spPr>
      </p:sp>
      <p:pic>
        <p:nvPicPr>
          <p:cNvPr id="6" name="learn0-icon" descr="preencoded.png">    </p:cNvPr>
          <p:cNvPicPr>
            <a:picLocks noChangeAspect="1"/>
          </p:cNvPicPr>
          <p:nvPr/>
        </p:nvPicPr>
        <p:blipFill>
          <a:blip r:embed="rId1"/>
          <a:stretch>
            <a:fillRect/>
          </a:stretch>
        </p:blipFill>
        <p:spPr>
          <a:xfrm>
            <a:off x="982980" y="1851660"/>
            <a:ext cx="320040" cy="320040"/>
          </a:xfrm>
          <a:prstGeom prst="rect">
            <a:avLst/>
          </a:prstGeom>
        </p:spPr>
      </p:pic>
      <p:sp>
        <p:nvSpPr>
          <p:cNvPr id="7" name="learn0-head"/>
          <p:cNvSpPr txBox="1"/>
          <p:nvPr/>
        </p:nvSpPr>
        <p:spPr>
          <a:xfrm>
            <a:off x="1645920" y="1691640"/>
            <a:ext cx="4023360" cy="640080"/>
          </a:xfrm>
          <a:prstGeom prst="rect">
            <a:avLst/>
          </a:prstGeom>
          <a:noFill/>
          <a:ln/>
        </p:spPr>
        <p:txBody>
          <a:bodyPr wrap="square" lIns="0" tIns="0" rIns="0" bIns="0" rtlCol="0" anchor="ctr"/>
          <a:lstStyle/>
          <a:p>
            <a:pPr indent="0" marL="0">
              <a:buNone/>
            </a:pPr>
            <a:r>
              <a:rPr lang="en-US" sz="1800" b="1" dirty="0">
                <a:solidFill>
                  <a:schemeClr val="tx1"/>
                </a:solidFill>
              </a:rPr>
              <a:t>A gate is only as fresh as its cache</a:t>
            </a:r>
            <a:endParaRPr lang="en-US" sz="1800" dirty="0"/>
          </a:p>
        </p:txBody>
      </p:sp>
      <p:sp>
        <p:nvSpPr>
          <p:cNvPr id="8" name="learn0-sub"/>
          <p:cNvSpPr txBox="1"/>
          <p:nvPr/>
        </p:nvSpPr>
        <p:spPr>
          <a:xfrm>
            <a:off x="1645920" y="2377440"/>
            <a:ext cx="4023360" cy="1005840"/>
          </a:xfrm>
          <a:prstGeom prst="rect">
            <a:avLst/>
          </a:prstGeom>
          <a:noFill/>
          <a:ln/>
        </p:spPr>
        <p:txBody>
          <a:bodyPr wrap="square" lIns="0" tIns="0" rIns="0" bIns="0" rtlCol="0" anchor="t"/>
          <a:lstStyle/>
          <a:p>
            <a:pPr indent="0" marL="0">
              <a:buNone/>
            </a:pPr>
            <a:r>
              <a:rPr lang="en-US" sz="1400" dirty="0">
                <a:solidFill>
                  <a:srgbClr val="64748B"/>
                </a:solidFill>
              </a:rPr>
              <a:t>apk upgrade sat in a cached layer; removing the dependency was the real fix.</a:t>
            </a:r>
            <a:endParaRPr lang="en-US" sz="1400" dirty="0"/>
          </a:p>
        </p:txBody>
      </p:sp>
      <p:sp>
        <p:nvSpPr>
          <p:cNvPr id="9" name="learn1"/>
          <p:cNvSpPr/>
          <p:nvPr/>
        </p:nvSpPr>
        <p:spPr>
          <a:xfrm>
            <a:off x="6126480" y="1417320"/>
            <a:ext cx="5349240" cy="2103120"/>
          </a:xfrm>
          <a:prstGeom prst="roundRect">
            <a:avLst>
              <a:gd name="adj" fmla="val 3478"/>
            </a:avLst>
          </a:prstGeom>
          <a:solidFill>
            <a:schemeClr val="bg2"/>
          </a:solidFill>
          <a:ln w="12700">
            <a:solidFill>
              <a:schemeClr val="bg2"/>
            </a:solidFill>
            <a:prstDash val="solid"/>
          </a:ln>
        </p:spPr>
      </p:sp>
      <p:sp>
        <p:nvSpPr>
          <p:cNvPr id="10" name="learn1-circle"/>
          <p:cNvSpPr/>
          <p:nvPr/>
        </p:nvSpPr>
        <p:spPr>
          <a:xfrm>
            <a:off x="6400800" y="1691640"/>
            <a:ext cx="640080" cy="640080"/>
          </a:xfrm>
          <a:prstGeom prst="ellipse">
            <a:avLst/>
          </a:prstGeom>
          <a:solidFill>
            <a:schemeClr val="accent1"/>
          </a:solidFill>
          <a:ln w="12700">
            <a:solidFill>
              <a:schemeClr val="accent1"/>
            </a:solidFill>
            <a:prstDash val="solid"/>
          </a:ln>
        </p:spPr>
      </p:sp>
      <p:pic>
        <p:nvPicPr>
          <p:cNvPr id="11" name="learn1-icon" descr="preencoded.png">    </p:cNvPr>
          <p:cNvPicPr>
            <a:picLocks noChangeAspect="1"/>
          </p:cNvPicPr>
          <p:nvPr/>
        </p:nvPicPr>
        <p:blipFill>
          <a:blip r:embed="rId2"/>
          <a:stretch>
            <a:fillRect/>
          </a:stretch>
        </p:blipFill>
        <p:spPr>
          <a:xfrm>
            <a:off x="6560820" y="1851660"/>
            <a:ext cx="320040" cy="320040"/>
          </a:xfrm>
          <a:prstGeom prst="rect">
            <a:avLst/>
          </a:prstGeom>
        </p:spPr>
      </p:pic>
      <p:sp>
        <p:nvSpPr>
          <p:cNvPr id="12" name="learn1-head"/>
          <p:cNvSpPr txBox="1"/>
          <p:nvPr/>
        </p:nvSpPr>
        <p:spPr>
          <a:xfrm>
            <a:off x="7223760" y="1691640"/>
            <a:ext cx="4023360" cy="640080"/>
          </a:xfrm>
          <a:prstGeom prst="rect">
            <a:avLst/>
          </a:prstGeom>
          <a:noFill/>
          <a:ln/>
        </p:spPr>
        <p:txBody>
          <a:bodyPr wrap="square" lIns="0" tIns="0" rIns="0" bIns="0" rtlCol="0" anchor="ctr"/>
          <a:lstStyle/>
          <a:p>
            <a:pPr indent="0" marL="0">
              <a:buNone/>
            </a:pPr>
            <a:r>
              <a:rPr lang="en-US" sz="1800" b="1" dirty="0">
                <a:solidFill>
                  <a:schemeClr val="tx1"/>
                </a:solidFill>
              </a:rPr>
              <a:t>Git is the deploy interface</a:t>
            </a:r>
            <a:endParaRPr lang="en-US" sz="1800" dirty="0"/>
          </a:p>
        </p:txBody>
      </p:sp>
      <p:sp>
        <p:nvSpPr>
          <p:cNvPr id="13" name="learn1-sub"/>
          <p:cNvSpPr txBox="1"/>
          <p:nvPr/>
        </p:nvSpPr>
        <p:spPr>
          <a:xfrm>
            <a:off x="7223760" y="2377440"/>
            <a:ext cx="4023360" cy="1005840"/>
          </a:xfrm>
          <a:prstGeom prst="rect">
            <a:avLst/>
          </a:prstGeom>
          <a:noFill/>
          <a:ln/>
        </p:spPr>
        <p:txBody>
          <a:bodyPr wrap="square" lIns="0" tIns="0" rIns="0" bIns="0" rtlCol="0" anchor="t"/>
          <a:lstStyle/>
          <a:p>
            <a:pPr indent="0" marL="0">
              <a:buNone/>
            </a:pPr>
            <a:r>
              <a:rPr lang="en-US" sz="1400" dirty="0">
                <a:solidFill>
                  <a:srgbClr val="64748B"/>
                </a:solidFill>
              </a:rPr>
              <a:t>CI writes the SHA, Argo CD applies it. Argo renders Helm without a Helm release, so staging is the one that shows up in helm list.</a:t>
            </a:r>
            <a:endParaRPr lang="en-US" sz="1400" dirty="0"/>
          </a:p>
        </p:txBody>
      </p:sp>
      <p:sp>
        <p:nvSpPr>
          <p:cNvPr id="14" name="learn2"/>
          <p:cNvSpPr/>
          <p:nvPr/>
        </p:nvSpPr>
        <p:spPr>
          <a:xfrm>
            <a:off x="548640" y="3794760"/>
            <a:ext cx="5349240" cy="2103120"/>
          </a:xfrm>
          <a:prstGeom prst="roundRect">
            <a:avLst>
              <a:gd name="adj" fmla="val 3478"/>
            </a:avLst>
          </a:prstGeom>
          <a:solidFill>
            <a:schemeClr val="bg2"/>
          </a:solidFill>
          <a:ln w="12700">
            <a:solidFill>
              <a:schemeClr val="bg2"/>
            </a:solidFill>
            <a:prstDash val="solid"/>
          </a:ln>
        </p:spPr>
      </p:sp>
      <p:sp>
        <p:nvSpPr>
          <p:cNvPr id="15" name="learn2-circle"/>
          <p:cNvSpPr/>
          <p:nvPr/>
        </p:nvSpPr>
        <p:spPr>
          <a:xfrm>
            <a:off x="822960" y="4069080"/>
            <a:ext cx="640080" cy="640080"/>
          </a:xfrm>
          <a:prstGeom prst="ellipse">
            <a:avLst/>
          </a:prstGeom>
          <a:solidFill>
            <a:schemeClr val="accent1"/>
          </a:solidFill>
          <a:ln w="12700">
            <a:solidFill>
              <a:schemeClr val="accent1"/>
            </a:solidFill>
            <a:prstDash val="solid"/>
          </a:ln>
        </p:spPr>
      </p:sp>
      <p:pic>
        <p:nvPicPr>
          <p:cNvPr id="16" name="learn2-icon" descr="preencoded.png">    </p:cNvPr>
          <p:cNvPicPr>
            <a:picLocks noChangeAspect="1"/>
          </p:cNvPicPr>
          <p:nvPr/>
        </p:nvPicPr>
        <p:blipFill>
          <a:blip r:embed="rId3"/>
          <a:stretch>
            <a:fillRect/>
          </a:stretch>
        </p:blipFill>
        <p:spPr>
          <a:xfrm>
            <a:off x="982980" y="4229100"/>
            <a:ext cx="320040" cy="320040"/>
          </a:xfrm>
          <a:prstGeom prst="rect">
            <a:avLst/>
          </a:prstGeom>
        </p:spPr>
      </p:pic>
      <p:sp>
        <p:nvSpPr>
          <p:cNvPr id="17" name="learn2-head"/>
          <p:cNvSpPr txBox="1"/>
          <p:nvPr/>
        </p:nvSpPr>
        <p:spPr>
          <a:xfrm>
            <a:off x="1645920" y="4069080"/>
            <a:ext cx="4023360" cy="640080"/>
          </a:xfrm>
          <a:prstGeom prst="rect">
            <a:avLst/>
          </a:prstGeom>
          <a:noFill/>
          <a:ln/>
        </p:spPr>
        <p:txBody>
          <a:bodyPr wrap="square" lIns="0" tIns="0" rIns="0" bIns="0" rtlCol="0" anchor="ctr"/>
          <a:lstStyle/>
          <a:p>
            <a:pPr indent="0" marL="0">
              <a:buNone/>
            </a:pPr>
            <a:r>
              <a:rPr lang="en-US" sz="1800" b="1" dirty="0">
                <a:solidFill>
                  <a:schemeClr val="tx1"/>
                </a:solidFill>
              </a:rPr>
              <a:t>One owner per field</a:t>
            </a:r>
            <a:endParaRPr lang="en-US" sz="1800" dirty="0"/>
          </a:p>
        </p:txBody>
      </p:sp>
      <p:sp>
        <p:nvSpPr>
          <p:cNvPr id="18" name="learn2-sub"/>
          <p:cNvSpPr txBox="1"/>
          <p:nvPr/>
        </p:nvSpPr>
        <p:spPr>
          <a:xfrm>
            <a:off x="1645920" y="4754880"/>
            <a:ext cx="4023360" cy="1005840"/>
          </a:xfrm>
          <a:prstGeom prst="rect">
            <a:avLst/>
          </a:prstGeom>
          <a:noFill/>
          <a:ln/>
        </p:spPr>
        <p:txBody>
          <a:bodyPr wrap="square" lIns="0" tIns="0" rIns="0" bIns="0" rtlCol="0" anchor="t"/>
          <a:lstStyle/>
          <a:p>
            <a:pPr indent="0" marL="0">
              <a:buNone/>
            </a:pPr>
            <a:r>
              <a:rPr lang="en-US" sz="1400" dirty="0">
                <a:solidFill>
                  <a:srgbClr val="64748B"/>
                </a:solidFill>
              </a:rPr>
              <a:t>The HPA owns replicas; Argo CD ignores them. The API owns opening hours; the UI reads them.</a:t>
            </a:r>
            <a:endParaRPr lang="en-US" sz="1400" dirty="0"/>
          </a:p>
        </p:txBody>
      </p:sp>
      <p:sp>
        <p:nvSpPr>
          <p:cNvPr id="19" name="learn3"/>
          <p:cNvSpPr/>
          <p:nvPr/>
        </p:nvSpPr>
        <p:spPr>
          <a:xfrm>
            <a:off x="6126480" y="3794760"/>
            <a:ext cx="5349240" cy="2103120"/>
          </a:xfrm>
          <a:prstGeom prst="roundRect">
            <a:avLst>
              <a:gd name="adj" fmla="val 3478"/>
            </a:avLst>
          </a:prstGeom>
          <a:solidFill>
            <a:schemeClr val="bg2"/>
          </a:solidFill>
          <a:ln w="12700">
            <a:solidFill>
              <a:schemeClr val="bg2"/>
            </a:solidFill>
            <a:prstDash val="solid"/>
          </a:ln>
        </p:spPr>
      </p:sp>
      <p:sp>
        <p:nvSpPr>
          <p:cNvPr id="20" name="learn3-circle"/>
          <p:cNvSpPr/>
          <p:nvPr/>
        </p:nvSpPr>
        <p:spPr>
          <a:xfrm>
            <a:off x="6400800" y="4069080"/>
            <a:ext cx="640080" cy="640080"/>
          </a:xfrm>
          <a:prstGeom prst="ellipse">
            <a:avLst/>
          </a:prstGeom>
          <a:solidFill>
            <a:schemeClr val="accent1"/>
          </a:solidFill>
          <a:ln w="12700">
            <a:solidFill>
              <a:schemeClr val="accent1"/>
            </a:solidFill>
            <a:prstDash val="solid"/>
          </a:ln>
        </p:spPr>
      </p:sp>
      <p:pic>
        <p:nvPicPr>
          <p:cNvPr id="21" name="learn3-icon" descr="preencoded.png">    </p:cNvPr>
          <p:cNvPicPr>
            <a:picLocks noChangeAspect="1"/>
          </p:cNvPicPr>
          <p:nvPr/>
        </p:nvPicPr>
        <p:blipFill>
          <a:blip r:embed="rId4"/>
          <a:stretch>
            <a:fillRect/>
          </a:stretch>
        </p:blipFill>
        <p:spPr>
          <a:xfrm>
            <a:off x="6560820" y="4229100"/>
            <a:ext cx="320040" cy="320040"/>
          </a:xfrm>
          <a:prstGeom prst="rect">
            <a:avLst/>
          </a:prstGeom>
        </p:spPr>
      </p:pic>
      <p:sp>
        <p:nvSpPr>
          <p:cNvPr id="22" name="learn3-head"/>
          <p:cNvSpPr txBox="1"/>
          <p:nvPr/>
        </p:nvSpPr>
        <p:spPr>
          <a:xfrm>
            <a:off x="7223760" y="4069080"/>
            <a:ext cx="4023360" cy="640080"/>
          </a:xfrm>
          <a:prstGeom prst="rect">
            <a:avLst/>
          </a:prstGeom>
          <a:noFill/>
          <a:ln/>
        </p:spPr>
        <p:txBody>
          <a:bodyPr wrap="square" lIns="0" tIns="0" rIns="0" bIns="0" rtlCol="0" anchor="ctr"/>
          <a:lstStyle/>
          <a:p>
            <a:pPr indent="0" marL="0">
              <a:buNone/>
            </a:pPr>
            <a:r>
              <a:rPr lang="en-US" sz="1800" b="1" dirty="0">
                <a:solidFill>
                  <a:schemeClr val="tx1"/>
                </a:solidFill>
              </a:rPr>
              <a:t>Check what the dashboard says</a:t>
            </a:r>
            <a:endParaRPr lang="en-US" sz="1800" dirty="0"/>
          </a:p>
        </p:txBody>
      </p:sp>
      <p:sp>
        <p:nvSpPr>
          <p:cNvPr id="23" name="learn3-sub"/>
          <p:cNvSpPr txBox="1"/>
          <p:nvPr/>
        </p:nvSpPr>
        <p:spPr>
          <a:xfrm>
            <a:off x="7223760" y="4754880"/>
            <a:ext cx="4023360" cy="1005840"/>
          </a:xfrm>
          <a:prstGeom prst="rect">
            <a:avLst/>
          </a:prstGeom>
          <a:noFill/>
          <a:ln/>
        </p:spPr>
        <p:txBody>
          <a:bodyPr wrap="square" lIns="0" tIns="0" rIns="0" bIns="0" rtlCol="0" anchor="t"/>
          <a:lstStyle/>
          <a:p>
            <a:pPr indent="0" marL="0">
              <a:buNone/>
            </a:pPr>
            <a:r>
              <a:rPr lang="en-US" sz="1400" dirty="0">
                <a:solidFill>
                  <a:srgbClr val="64748B"/>
                </a:solidFill>
              </a:rPr>
              <a:t>A stacked panel turned a few expected 409s into an apparent flood of errors.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Limitations and next steps</a:t>
            </a:r>
            <a:endParaRPr lang="en-US" sz="3400" dirty="0"/>
          </a:p>
        </p:txBody>
      </p:sp>
      <p:sp>
        <p:nvSpPr>
          <p:cNvPr id="4" name="lim0-dot"/>
          <p:cNvSpPr/>
          <p:nvPr/>
        </p:nvSpPr>
        <p:spPr>
          <a:xfrm>
            <a:off x="548640" y="1527048"/>
            <a:ext cx="457200" cy="457200"/>
          </a:xfrm>
          <a:prstGeom prst="ellipse">
            <a:avLst/>
          </a:prstGeom>
          <a:solidFill>
            <a:schemeClr val="accent3"/>
          </a:solidFill>
          <a:ln w="12700">
            <a:solidFill>
              <a:schemeClr val="accent3"/>
            </a:solidFill>
            <a:prstDash val="solid"/>
          </a:ln>
        </p:spPr>
      </p:sp>
      <p:sp>
        <p:nvSpPr>
          <p:cNvPr id="5" name="lim0-n"/>
          <p:cNvSpPr txBox="1"/>
          <p:nvPr/>
        </p:nvSpPr>
        <p:spPr>
          <a:xfrm>
            <a:off x="548640" y="15270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lim0-head"/>
          <p:cNvSpPr txBox="1"/>
          <p:nvPr/>
        </p:nvSpPr>
        <p:spPr>
          <a:xfrm>
            <a:off x="1234440" y="1417320"/>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No real AWS run</a:t>
            </a:r>
            <a:endParaRPr lang="en-US" sz="1800" dirty="0"/>
          </a:p>
        </p:txBody>
      </p:sp>
      <p:sp>
        <p:nvSpPr>
          <p:cNvPr id="7" name="lim0-sub"/>
          <p:cNvSpPr txBox="1"/>
          <p:nvPr/>
        </p:nvSpPr>
        <p:spPr>
          <a:xfrm>
            <a:off x="1234440" y="1801368"/>
            <a:ext cx="4937760" cy="548640"/>
          </a:xfrm>
          <a:prstGeom prst="rect">
            <a:avLst/>
          </a:prstGeom>
          <a:noFill/>
          <a:ln/>
        </p:spPr>
        <p:txBody>
          <a:bodyPr wrap="square" lIns="0" tIns="0" rIns="0" bIns="0" rtlCol="0" anchor="t"/>
          <a:lstStyle/>
          <a:p>
            <a:pPr indent="0" marL="0">
              <a:buNone/>
            </a:pPr>
            <a:r>
              <a:rPr lang="en-US" sz="1400" dirty="0">
                <a:solidFill>
                  <a:srgbClr val="64748B"/>
                </a:solidFill>
              </a:rPr>
              <a:t>Terraform ran on moto; the next step is a real apply with credentials, then destroy</a:t>
            </a:r>
            <a:endParaRPr lang="en-US" sz="1400" dirty="0"/>
          </a:p>
        </p:txBody>
      </p:sp>
      <p:sp>
        <p:nvSpPr>
          <p:cNvPr id="8" name="lim1-dot"/>
          <p:cNvSpPr/>
          <p:nvPr/>
        </p:nvSpPr>
        <p:spPr>
          <a:xfrm>
            <a:off x="548640" y="2715768"/>
            <a:ext cx="457200" cy="457200"/>
          </a:xfrm>
          <a:prstGeom prst="ellipse">
            <a:avLst/>
          </a:prstGeom>
          <a:solidFill>
            <a:schemeClr val="accent3"/>
          </a:solidFill>
          <a:ln w="12700">
            <a:solidFill>
              <a:schemeClr val="accent3"/>
            </a:solidFill>
            <a:prstDash val="solid"/>
          </a:ln>
        </p:spPr>
      </p:sp>
      <p:sp>
        <p:nvSpPr>
          <p:cNvPr id="9" name="lim1-n"/>
          <p:cNvSpPr txBox="1"/>
          <p:nvPr/>
        </p:nvSpPr>
        <p:spPr>
          <a:xfrm>
            <a:off x="548640" y="2715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lim1-head"/>
          <p:cNvSpPr txBox="1"/>
          <p:nvPr/>
        </p:nvSpPr>
        <p:spPr>
          <a:xfrm>
            <a:off x="1234440" y="2606040"/>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No authentication</a:t>
            </a:r>
            <a:endParaRPr lang="en-US" sz="1800" dirty="0"/>
          </a:p>
        </p:txBody>
      </p:sp>
      <p:sp>
        <p:nvSpPr>
          <p:cNvPr id="11" name="lim1-sub"/>
          <p:cNvSpPr txBox="1"/>
          <p:nvPr/>
        </p:nvSpPr>
        <p:spPr>
          <a:xfrm>
            <a:off x="1234440" y="2990088"/>
            <a:ext cx="4937760" cy="548640"/>
          </a:xfrm>
          <a:prstGeom prst="rect">
            <a:avLst/>
          </a:prstGeom>
          <a:noFill/>
          <a:ln/>
        </p:spPr>
        <p:txBody>
          <a:bodyPr wrap="square" lIns="0" tIns="0" rIns="0" bIns="0" rtlCol="0" anchor="t"/>
          <a:lstStyle/>
          <a:p>
            <a:pPr indent="0" marL="0">
              <a:buNone/>
            </a:pPr>
            <a:r>
              <a:rPr lang="en-US" sz="1400" dirty="0">
                <a:solidFill>
                  <a:srgbClr val="64748B"/>
                </a:solidFill>
              </a:rPr>
              <a:t>Patient data needs OIDC at the Ingress and TLS before any real use</a:t>
            </a:r>
            <a:endParaRPr lang="en-US" sz="1400" dirty="0"/>
          </a:p>
        </p:txBody>
      </p:sp>
      <p:sp>
        <p:nvSpPr>
          <p:cNvPr id="12" name="lim2-dot"/>
          <p:cNvSpPr/>
          <p:nvPr/>
        </p:nvSpPr>
        <p:spPr>
          <a:xfrm>
            <a:off x="548640" y="3904488"/>
            <a:ext cx="457200" cy="457200"/>
          </a:xfrm>
          <a:prstGeom prst="ellipse">
            <a:avLst/>
          </a:prstGeom>
          <a:solidFill>
            <a:schemeClr val="accent3"/>
          </a:solidFill>
          <a:ln w="12700">
            <a:solidFill>
              <a:schemeClr val="accent3"/>
            </a:solidFill>
            <a:prstDash val="solid"/>
          </a:ln>
        </p:spPr>
      </p:sp>
      <p:sp>
        <p:nvSpPr>
          <p:cNvPr id="13" name="lim2-n"/>
          <p:cNvSpPr txBox="1"/>
          <p:nvPr/>
        </p:nvSpPr>
        <p:spPr>
          <a:xfrm>
            <a:off x="548640" y="39044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lim2-head"/>
          <p:cNvSpPr txBox="1"/>
          <p:nvPr/>
        </p:nvSpPr>
        <p:spPr>
          <a:xfrm>
            <a:off x="1234440" y="3794760"/>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Single PostgreSQL</a:t>
            </a:r>
            <a:endParaRPr lang="en-US" sz="1800" dirty="0"/>
          </a:p>
        </p:txBody>
      </p:sp>
      <p:sp>
        <p:nvSpPr>
          <p:cNvPr id="15" name="lim2-sub"/>
          <p:cNvSpPr txBox="1"/>
          <p:nvPr/>
        </p:nvSpPr>
        <p:spPr>
          <a:xfrm>
            <a:off x="1234440" y="4178808"/>
            <a:ext cx="4937760" cy="548640"/>
          </a:xfrm>
          <a:prstGeom prst="rect">
            <a:avLst/>
          </a:prstGeom>
          <a:noFill/>
          <a:ln/>
        </p:spPr>
        <p:txBody>
          <a:bodyPr wrap="square" lIns="0" tIns="0" rIns="0" bIns="0" rtlCol="0" anchor="t"/>
          <a:lstStyle/>
          <a:p>
            <a:pPr indent="0" marL="0">
              <a:buNone/>
            </a:pPr>
            <a:r>
              <a:rPr lang="en-US" sz="1400" dirty="0">
                <a:solidFill>
                  <a:srgbClr val="64748B"/>
                </a:solidFill>
              </a:rPr>
              <a:t>No backups; production values expect Amazon RDS</a:t>
            </a:r>
            <a:endParaRPr lang="en-US" sz="1400" dirty="0"/>
          </a:p>
        </p:txBody>
      </p:sp>
      <p:sp>
        <p:nvSpPr>
          <p:cNvPr id="16" name="lim3-dot"/>
          <p:cNvSpPr/>
          <p:nvPr/>
        </p:nvSpPr>
        <p:spPr>
          <a:xfrm>
            <a:off x="548640" y="5093208"/>
            <a:ext cx="457200" cy="457200"/>
          </a:xfrm>
          <a:prstGeom prst="ellipse">
            <a:avLst/>
          </a:prstGeom>
          <a:solidFill>
            <a:schemeClr val="accent3"/>
          </a:solidFill>
          <a:ln w="12700">
            <a:solidFill>
              <a:schemeClr val="accent3"/>
            </a:solidFill>
            <a:prstDash val="solid"/>
          </a:ln>
        </p:spPr>
      </p:sp>
      <p:sp>
        <p:nvSpPr>
          <p:cNvPr id="17" name="lim3-n"/>
          <p:cNvSpPr txBox="1"/>
          <p:nvPr/>
        </p:nvSpPr>
        <p:spPr>
          <a:xfrm>
            <a:off x="548640" y="5093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lim3-head"/>
          <p:cNvSpPr txBox="1"/>
          <p:nvPr/>
        </p:nvSpPr>
        <p:spPr>
          <a:xfrm>
            <a:off x="1234440" y="4983480"/>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Polling GitOps</a:t>
            </a:r>
            <a:endParaRPr lang="en-US" sz="1800" dirty="0"/>
          </a:p>
        </p:txBody>
      </p:sp>
      <p:sp>
        <p:nvSpPr>
          <p:cNvPr id="19" name="lim3-sub"/>
          <p:cNvSpPr txBox="1"/>
          <p:nvPr/>
        </p:nvSpPr>
        <p:spPr>
          <a:xfrm>
            <a:off x="1234440" y="5367528"/>
            <a:ext cx="4937760" cy="548640"/>
          </a:xfrm>
          <a:prstGeom prst="rect">
            <a:avLst/>
          </a:prstGeom>
          <a:noFill/>
          <a:ln/>
        </p:spPr>
        <p:txBody>
          <a:bodyPr wrap="square" lIns="0" tIns="0" rIns="0" bIns="0" rtlCol="0" anchor="t"/>
          <a:lstStyle/>
          <a:p>
            <a:pPr indent="0" marL="0">
              <a:buNone/>
            </a:pPr>
            <a:r>
              <a:rPr lang="en-US" sz="1400" dirty="0">
                <a:solidFill>
                  <a:srgbClr val="64748B"/>
                </a:solidFill>
              </a:rPr>
              <a:t>Argo CD checks GitHub every 60 s; a webhook needs a reachable cluster</a:t>
            </a:r>
            <a:endParaRPr lang="en-US" sz="1400" dirty="0"/>
          </a:p>
        </p:txBody>
      </p:sp>
      <p:pic>
        <p:nvPicPr>
          <p:cNvPr id="20" name="ingress-shot" descr="/Users/rajprakash/Desktop/devops/devsecops-python/screenshots/m8-22-app-via-ingress.png">    </p:cNvPr>
          <p:cNvPicPr>
            <a:picLocks noChangeAspect="1"/>
          </p:cNvPicPr>
          <p:nvPr/>
        </p:nvPicPr>
        <p:blipFill>
          <a:blip r:embed="rId1"/>
          <a:stretch>
            <a:fillRect/>
          </a:stretch>
        </p:blipFill>
        <p:spPr>
          <a:xfrm>
            <a:off x="6583680" y="1463040"/>
            <a:ext cx="5029200" cy="3355848"/>
          </a:xfrm>
          <a:prstGeom prst="rect">
            <a:avLst/>
          </a:prstGeom>
          <a:effectLst>
            <a:outerShdw sx="100000" sy="100000" kx="0" ky="0" algn="bl" rotWithShape="0" blurRad="101600" dist="25400" dir="5400000">
              <a:srgbClr val="0F172A">
                <a:alpha val="12000"/>
              </a:srgbClr>
            </a:outerShdw>
          </a:effectLst>
        </p:spPr>
      </p:pic>
      <p:sp>
        <p:nvSpPr>
          <p:cNvPr id="21" name="ingress-caption"/>
          <p:cNvSpPr txBox="1"/>
          <p:nvPr/>
        </p:nvSpPr>
        <p:spPr>
          <a:xfrm>
            <a:off x="6583680" y="4983480"/>
            <a:ext cx="5029200" cy="365760"/>
          </a:xfrm>
          <a:prstGeom prst="rect">
            <a:avLst/>
          </a:prstGeom>
          <a:noFill/>
          <a:ln/>
        </p:spPr>
        <p:txBody>
          <a:bodyPr wrap="square" lIns="0" tIns="0" rIns="0" bIns="0" rtlCol="0" anchor="ctr"/>
          <a:lstStyle/>
          <a:p>
            <a:pPr indent="0" marL="0">
              <a:buNone/>
            </a:pPr>
            <a:r>
              <a:rPr lang="en-US" sz="1200" i="1" dirty="0">
                <a:solidFill>
                  <a:srgbClr val="64748B"/>
                </a:solidFill>
              </a:rPr>
              <a:t>Running today: kind cluster, Argo CD-managed, build shown in the sidebar</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914400"/>
          </a:xfrm>
          <a:prstGeom prst="rect">
            <a:avLst/>
          </a:prstGeom>
          <a:noFill/>
          <a:ln/>
        </p:spPr>
        <p:txBody>
          <a:bodyPr wrap="square" lIns="0" tIns="0" rIns="0" bIns="0" rtlCol="0" anchor="ctr"/>
          <a:lstStyle/>
          <a:p>
            <a:pPr algn="l" indent="0" marL="0">
              <a:buNone/>
            </a:pPr>
            <a:r>
              <a:rPr lang="en-US" sz="4000" b="1" dirty="0">
                <a:solidFill>
                  <a:schemeClr val="bg1"/>
                </a:solidFill>
              </a:rPr>
              <a:t>Thank you</a:t>
            </a:r>
            <a:endParaRPr lang="en-US" sz="4000" dirty="0"/>
          </a:p>
        </p:txBody>
      </p:sp>
      <p:sp>
        <p:nvSpPr>
          <p:cNvPr id="4" name="link0-k"/>
          <p:cNvSpPr txBox="1"/>
          <p:nvPr/>
        </p:nvSpPr>
        <p:spPr>
          <a:xfrm>
            <a:off x="640080" y="1828800"/>
            <a:ext cx="2194560" cy="548640"/>
          </a:xfrm>
          <a:prstGeom prst="rect">
            <a:avLst/>
          </a:prstGeom>
          <a:noFill/>
          <a:ln/>
        </p:spPr>
        <p:txBody>
          <a:bodyPr wrap="square" lIns="0" tIns="0" rIns="0" bIns="0" rtlCol="0" anchor="ctr"/>
          <a:lstStyle/>
          <a:p>
            <a:pPr indent="0" marL="0">
              <a:buNone/>
            </a:pPr>
            <a:r>
              <a:rPr lang="en-US" sz="1800" b="1" dirty="0">
                <a:solidFill>
                  <a:srgbClr val="5EEAD4"/>
                </a:solidFill>
              </a:rPr>
              <a:t>Repository</a:t>
            </a:r>
            <a:endParaRPr lang="en-US" sz="1800" dirty="0"/>
          </a:p>
        </p:txBody>
      </p:sp>
      <p:sp>
        <p:nvSpPr>
          <p:cNvPr id="5" name="link0-v"/>
          <p:cNvSpPr txBox="1"/>
          <p:nvPr/>
        </p:nvSpPr>
        <p:spPr>
          <a:xfrm>
            <a:off x="2834640" y="1828800"/>
            <a:ext cx="8229600" cy="548640"/>
          </a:xfrm>
          <a:prstGeom prst="rect">
            <a:avLst/>
          </a:prstGeom>
          <a:noFill/>
          <a:ln/>
        </p:spPr>
        <p:txBody>
          <a:bodyPr wrap="square" lIns="0" tIns="0" rIns="0" bIns="0" rtlCol="0" anchor="ctr"/>
          <a:lstStyle/>
          <a:p>
            <a:pPr indent="0" marL="0">
              <a:buNone/>
            </a:pPr>
            <a:r>
              <a:rPr lang="en-US" sz="1800" dirty="0">
                <a:solidFill>
                  <a:schemeClr val="bg1"/>
                </a:solidFill>
              </a:rPr>
              <a:t>github.com/RajPrakash681/devsecops-python</a:t>
            </a:r>
            <a:endParaRPr lang="en-US" sz="1800" dirty="0"/>
          </a:p>
        </p:txBody>
      </p:sp>
      <p:sp>
        <p:nvSpPr>
          <p:cNvPr id="6" name="link1-k"/>
          <p:cNvSpPr txBox="1"/>
          <p:nvPr/>
        </p:nvSpPr>
        <p:spPr>
          <a:xfrm>
            <a:off x="640080" y="2651760"/>
            <a:ext cx="2194560" cy="548640"/>
          </a:xfrm>
          <a:prstGeom prst="rect">
            <a:avLst/>
          </a:prstGeom>
          <a:noFill/>
          <a:ln/>
        </p:spPr>
        <p:txBody>
          <a:bodyPr wrap="square" lIns="0" tIns="0" rIns="0" bIns="0" rtlCol="0" anchor="ctr"/>
          <a:lstStyle/>
          <a:p>
            <a:pPr indent="0" marL="0">
              <a:buNone/>
            </a:pPr>
            <a:r>
              <a:rPr lang="en-US" sz="1800" b="1" dirty="0">
                <a:solidFill>
                  <a:srgbClr val="5EEAD4"/>
                </a:solidFill>
              </a:rPr>
              <a:t>Demo video</a:t>
            </a:r>
            <a:endParaRPr lang="en-US" sz="1800" dirty="0"/>
          </a:p>
        </p:txBody>
      </p:sp>
      <p:sp>
        <p:nvSpPr>
          <p:cNvPr id="7" name="link1-v"/>
          <p:cNvSpPr txBox="1"/>
          <p:nvPr/>
        </p:nvSpPr>
        <p:spPr>
          <a:xfrm>
            <a:off x="2834640" y="2651760"/>
            <a:ext cx="8229600" cy="548640"/>
          </a:xfrm>
          <a:prstGeom prst="rect">
            <a:avLst/>
          </a:prstGeom>
          <a:noFill/>
          <a:ln/>
        </p:spPr>
        <p:txBody>
          <a:bodyPr wrap="square" lIns="0" tIns="0" rIns="0" bIns="0" rtlCol="0" anchor="ctr"/>
          <a:lstStyle/>
          <a:p>
            <a:pPr indent="0" marL="0">
              <a:buNone/>
            </a:pPr>
            <a:r>
              <a:rPr lang="en-US" sz="1800" dirty="0">
                <a:solidFill>
                  <a:schemeClr val="bg1"/>
                </a:solidFill>
              </a:rPr>
              <a:t>demo/ClinicFlow-demo.mp4</a:t>
            </a:r>
            <a:endParaRPr lang="en-US" sz="1800" dirty="0"/>
          </a:p>
        </p:txBody>
      </p:sp>
      <p:sp>
        <p:nvSpPr>
          <p:cNvPr id="8" name="link2-k"/>
          <p:cNvSpPr txBox="1"/>
          <p:nvPr/>
        </p:nvSpPr>
        <p:spPr>
          <a:xfrm>
            <a:off x="640080" y="3474720"/>
            <a:ext cx="2194560" cy="548640"/>
          </a:xfrm>
          <a:prstGeom prst="rect">
            <a:avLst/>
          </a:prstGeom>
          <a:noFill/>
          <a:ln/>
        </p:spPr>
        <p:txBody>
          <a:bodyPr wrap="square" lIns="0" tIns="0" rIns="0" bIns="0" rtlCol="0" anchor="ctr"/>
          <a:lstStyle/>
          <a:p>
            <a:pPr indent="0" marL="0">
              <a:buNone/>
            </a:pPr>
            <a:r>
              <a:rPr lang="en-US" sz="1800" b="1" dirty="0">
                <a:solidFill>
                  <a:srgbClr val="5EEAD4"/>
                </a:solidFill>
              </a:rPr>
              <a:t>Evidence</a:t>
            </a:r>
            <a:endParaRPr lang="en-US" sz="1800" dirty="0"/>
          </a:p>
        </p:txBody>
      </p:sp>
      <p:sp>
        <p:nvSpPr>
          <p:cNvPr id="9" name="link2-v"/>
          <p:cNvSpPr txBox="1"/>
          <p:nvPr/>
        </p:nvSpPr>
        <p:spPr>
          <a:xfrm>
            <a:off x="2834640" y="3474720"/>
            <a:ext cx="8229600" cy="548640"/>
          </a:xfrm>
          <a:prstGeom prst="rect">
            <a:avLst/>
          </a:prstGeom>
          <a:noFill/>
          <a:ln/>
        </p:spPr>
        <p:txBody>
          <a:bodyPr wrap="square" lIns="0" tIns="0" rIns="0" bIns="0" rtlCol="0" anchor="ctr"/>
          <a:lstStyle/>
          <a:p>
            <a:pPr indent="0" marL="0">
              <a:buNone/>
            </a:pPr>
            <a:r>
              <a:rPr lang="en-US" sz="1800" dirty="0">
                <a:solidFill>
                  <a:schemeClr val="bg1"/>
                </a:solidFill>
              </a:rPr>
              <a:t>README.md, 34 screenshots from real runs</a:t>
            </a:r>
            <a:endParaRPr lang="en-US" sz="1800" dirty="0"/>
          </a:p>
        </p:txBody>
      </p:sp>
      <p:sp>
        <p:nvSpPr>
          <p:cNvPr id="10" name="link3-k"/>
          <p:cNvSpPr txBox="1"/>
          <p:nvPr/>
        </p:nvSpPr>
        <p:spPr>
          <a:xfrm>
            <a:off x="640080" y="4297680"/>
            <a:ext cx="2194560" cy="548640"/>
          </a:xfrm>
          <a:prstGeom prst="rect">
            <a:avLst/>
          </a:prstGeom>
          <a:noFill/>
          <a:ln/>
        </p:spPr>
        <p:txBody>
          <a:bodyPr wrap="square" lIns="0" tIns="0" rIns="0" bIns="0" rtlCol="0" anchor="ctr"/>
          <a:lstStyle/>
          <a:p>
            <a:pPr indent="0" marL="0">
              <a:buNone/>
            </a:pPr>
            <a:r>
              <a:rPr lang="en-US" sz="1800" b="1" dirty="0">
                <a:solidFill>
                  <a:srgbClr val="5EEAD4"/>
                </a:solidFill>
              </a:rPr>
              <a:t>Pipeline</a:t>
            </a:r>
            <a:endParaRPr lang="en-US" sz="1800" dirty="0"/>
          </a:p>
        </p:txBody>
      </p:sp>
      <p:sp>
        <p:nvSpPr>
          <p:cNvPr id="11" name="link3-v"/>
          <p:cNvSpPr txBox="1"/>
          <p:nvPr/>
        </p:nvSpPr>
        <p:spPr>
          <a:xfrm>
            <a:off x="2834640" y="4297680"/>
            <a:ext cx="8229600" cy="548640"/>
          </a:xfrm>
          <a:prstGeom prst="rect">
            <a:avLst/>
          </a:prstGeom>
          <a:noFill/>
          <a:ln/>
        </p:spPr>
        <p:txBody>
          <a:bodyPr wrap="square" lIns="0" tIns="0" rIns="0" bIns="0" rtlCol="0" anchor="ctr"/>
          <a:lstStyle/>
          <a:p>
            <a:pPr indent="0" marL="0">
              <a:buNone/>
            </a:pPr>
            <a:r>
              <a:rPr lang="en-US" sz="1800" dirty="0">
                <a:solidFill>
                  <a:schemeClr val="bg1"/>
                </a:solidFill>
              </a:rPr>
              <a:t>GitHub Actions, CI/CD - ClinicFlow</a:t>
            </a:r>
            <a:endParaRPr lang="en-US" sz="1800" dirty="0"/>
          </a:p>
        </p:txBody>
      </p:sp>
      <p:sp>
        <p:nvSpPr>
          <p:cNvPr id="12" name="close-author"/>
          <p:cNvSpPr txBox="1"/>
          <p:nvPr/>
        </p:nvSpPr>
        <p:spPr>
          <a:xfrm>
            <a:off x="640080" y="5760720"/>
            <a:ext cx="5486400" cy="365760"/>
          </a:xfrm>
          <a:prstGeom prst="rect">
            <a:avLst/>
          </a:prstGeom>
          <a:noFill/>
          <a:ln/>
        </p:spPr>
        <p:txBody>
          <a:bodyPr wrap="square" lIns="0" tIns="0" rIns="0" bIns="0" rtlCol="0" anchor="ctr"/>
          <a:lstStyle/>
          <a:p>
            <a:pPr indent="0" marL="0">
              <a:buNone/>
            </a:pPr>
            <a:r>
              <a:rPr lang="en-US" sz="1400" dirty="0">
                <a:solidFill>
                  <a:srgbClr val="94A3B8"/>
                </a:solidFill>
              </a:rPr>
              <a:t>Raj Prakash · 24BCS10328</a:t>
            </a:r>
            <a:endParaRPr lang="en-US" sz="1400" dirty="0"/>
          </a:p>
        </p:txBody>
      </p:sp>
    </p:spTree>
  </p:cSld>
  <p:clrMapOvr>
    <a:masterClrMapping/>
  </p:clrMapOvr>
</p:sld>
</file>

<file path=ppt/theme/theme1.xml><?xml version="1.0" encoding="utf-8"?>
<a:theme xmlns:a="http://schemas.openxmlformats.org/drawingml/2006/main" name="ClinicFlow">
  <a:themeElements>
    <a:clrScheme name="ClinicFlow">
      <a:dk1>
        <a:srgbClr val="0F172A"/>
      </a:dk1>
      <a:lt1>
        <a:srgbClr val="FFFFFF"/>
      </a:lt1>
      <a:dk2>
        <a:srgbClr val="101828"/>
      </a:dk2>
      <a:lt2>
        <a:srgbClr val="F1F5F9"/>
      </a:lt2>
      <a:accent1>
        <a:srgbClr val="0F766E"/>
      </a:accent1>
      <a:accent2>
        <a:srgbClr val="14B8A6"/>
      </a:accent2>
      <a:accent3>
        <a:srgbClr val="F59E0B"/>
      </a:accent3>
      <a:accent4>
        <a:srgbClr val="3B82F6"/>
      </a:accent4>
      <a:accent5>
        <a:srgbClr val="22C55E"/>
      </a:accent5>
      <a:accent6>
        <a:srgbClr val="EF4444"/>
      </a:accent6>
      <a:hlink>
        <a:srgbClr val="0F766E"/>
      </a:hlink>
      <a:folHlink>
        <a:srgbClr val="115E59"/>
      </a:folHlink>
    </a:clrScheme>
    <a:fontScheme name="ClinicFlo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ClinicFlow - DevSecOps capstone</dc:title>
  <dc:subject>Session 21 final project</dc:subject>
  <dc:creator>Raj Prakash</dc:creator>
  <cp:lastModifiedBy>Raj Prakash</cp:lastModifiedBy>
  <cp:revision>1</cp:revision>
  <dcterms:created xsi:type="dcterms:W3CDTF">2026-10-15T14:38:41Z</dcterms:created>
  <dcterms:modified xsi:type="dcterms:W3CDTF">2026-10-15T14:38:41Z</dcterms:modified>
</cp:coreProperties>
</file>